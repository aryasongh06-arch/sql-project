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34"/>
  </p:notesMasterIdLst>
  <p:sldIdLst>
    <p:sldId id="257" r:id="rId2"/>
    <p:sldId id="286" r:id="rId3"/>
    <p:sldId id="269"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88" d="100"/>
          <a:sy n="88" d="100"/>
        </p:scale>
        <p:origin x="40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8AC626-4818-4683-8E95-320EB0DD921C}" type="datetimeFigureOut">
              <a:rPr lang="en-IN" smtClean="0"/>
              <a:t>18-09-2025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D6EDA-0C0B-4659-9E8B-935730ACBEF9}" type="slidenum">
              <a:rPr lang="en-IN" smtClean="0"/>
              <a:t>‹#›</a:t>
            </a:fld>
            <a:endParaRPr lang="en-IN"/>
          </a:p>
        </p:txBody>
      </p:sp>
    </p:spTree>
    <p:extLst>
      <p:ext uri="{BB962C8B-B14F-4D97-AF65-F5344CB8AC3E}">
        <p14:creationId xmlns:p14="http://schemas.microsoft.com/office/powerpoint/2010/main" val="2996776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ED6EDA-0C0B-4659-9E8B-935730ACBEF9}" type="slidenum">
              <a:rPr lang="en-IN" smtClean="0"/>
              <a:t>22</a:t>
            </a:fld>
            <a:endParaRPr lang="en-IN"/>
          </a:p>
        </p:txBody>
      </p:sp>
    </p:spTree>
    <p:extLst>
      <p:ext uri="{BB962C8B-B14F-4D97-AF65-F5344CB8AC3E}">
        <p14:creationId xmlns:p14="http://schemas.microsoft.com/office/powerpoint/2010/main" val="4026716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97463F-D471-4C73-90C5-3273831A0716}"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ECA23-2519-4B06-9173-36D6A6056CD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4675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97463F-D471-4C73-90C5-3273831A0716}"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ECA23-2519-4B06-9173-36D6A6056CD3}" type="slidenum">
              <a:rPr lang="en-IN" smtClean="0"/>
              <a:t>‹#›</a:t>
            </a:fld>
            <a:endParaRPr lang="en-IN"/>
          </a:p>
        </p:txBody>
      </p:sp>
    </p:spTree>
    <p:extLst>
      <p:ext uri="{BB962C8B-B14F-4D97-AF65-F5344CB8AC3E}">
        <p14:creationId xmlns:p14="http://schemas.microsoft.com/office/powerpoint/2010/main" val="3501672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97463F-D471-4C73-90C5-3273831A0716}"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ECA23-2519-4B06-9173-36D6A6056CD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583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97463F-D471-4C73-90C5-3273831A0716}" type="datetimeFigureOut">
              <a:rPr lang="en-IN" smtClean="0"/>
              <a:t>18-09-2025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FECA23-2519-4B06-9173-36D6A6056CD3}" type="slidenum">
              <a:rPr lang="en-IN" smtClean="0"/>
              <a:t>‹#›</a:t>
            </a:fld>
            <a:endParaRPr lang="en-IN"/>
          </a:p>
        </p:txBody>
      </p:sp>
    </p:spTree>
    <p:extLst>
      <p:ext uri="{BB962C8B-B14F-4D97-AF65-F5344CB8AC3E}">
        <p14:creationId xmlns:p14="http://schemas.microsoft.com/office/powerpoint/2010/main" val="896801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97463F-D471-4C73-90C5-3273831A0716}" type="datetimeFigureOut">
              <a:rPr lang="en-IN" smtClean="0"/>
              <a:t>18-09-2025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BFECA23-2519-4B06-9173-36D6A6056CD3}" type="slidenum">
              <a:rPr lang="en-IN" smtClean="0"/>
              <a:t>‹#›</a:t>
            </a:fld>
            <a:endParaRPr lang="en-IN"/>
          </a:p>
        </p:txBody>
      </p:sp>
    </p:spTree>
    <p:extLst>
      <p:ext uri="{BB962C8B-B14F-4D97-AF65-F5344CB8AC3E}">
        <p14:creationId xmlns:p14="http://schemas.microsoft.com/office/powerpoint/2010/main" val="443228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97463F-D471-4C73-90C5-3273831A0716}" type="datetimeFigureOut">
              <a:rPr lang="en-IN" smtClean="0"/>
              <a:t>18-09-2025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BFECA23-2519-4B06-9173-36D6A6056CD3}" type="slidenum">
              <a:rPr lang="en-IN" smtClean="0"/>
              <a:t>‹#›</a:t>
            </a:fld>
            <a:endParaRPr lang="en-IN"/>
          </a:p>
        </p:txBody>
      </p:sp>
    </p:spTree>
    <p:extLst>
      <p:ext uri="{BB962C8B-B14F-4D97-AF65-F5344CB8AC3E}">
        <p14:creationId xmlns:p14="http://schemas.microsoft.com/office/powerpoint/2010/main" val="2506008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797463F-D471-4C73-90C5-3273831A0716}" type="datetimeFigureOut">
              <a:rPr lang="en-IN" smtClean="0"/>
              <a:t>18-09-2025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BFECA23-2519-4B06-9173-36D6A6056CD3}" type="slidenum">
              <a:rPr lang="en-IN" smtClean="0"/>
              <a:t>‹#›</a:t>
            </a:fld>
            <a:endParaRPr lang="en-IN"/>
          </a:p>
        </p:txBody>
      </p:sp>
    </p:spTree>
    <p:extLst>
      <p:ext uri="{BB962C8B-B14F-4D97-AF65-F5344CB8AC3E}">
        <p14:creationId xmlns:p14="http://schemas.microsoft.com/office/powerpoint/2010/main" val="352411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797463F-D471-4C73-90C5-3273831A0716}" type="datetimeFigureOut">
              <a:rPr lang="en-IN" smtClean="0"/>
              <a:t>18-09-2025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BFECA23-2519-4B06-9173-36D6A6056CD3}" type="slidenum">
              <a:rPr lang="en-IN" smtClean="0"/>
              <a:t>‹#›</a:t>
            </a:fld>
            <a:endParaRPr lang="en-IN"/>
          </a:p>
        </p:txBody>
      </p:sp>
    </p:spTree>
    <p:extLst>
      <p:ext uri="{BB962C8B-B14F-4D97-AF65-F5344CB8AC3E}">
        <p14:creationId xmlns:p14="http://schemas.microsoft.com/office/powerpoint/2010/main" val="48216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97463F-D471-4C73-90C5-3273831A0716}" type="datetimeFigureOut">
              <a:rPr lang="en-IN" smtClean="0"/>
              <a:t>18-09-2025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FECA23-2519-4B06-9173-36D6A6056CD3}" type="slidenum">
              <a:rPr lang="en-IN" smtClean="0"/>
              <a:t>‹#›</a:t>
            </a:fld>
            <a:endParaRPr lang="en-IN"/>
          </a:p>
        </p:txBody>
      </p:sp>
    </p:spTree>
    <p:extLst>
      <p:ext uri="{BB962C8B-B14F-4D97-AF65-F5344CB8AC3E}">
        <p14:creationId xmlns:p14="http://schemas.microsoft.com/office/powerpoint/2010/main" val="3295667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97463F-D471-4C73-90C5-3273831A0716}"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ECA23-2519-4B06-9173-36D6A6056CD3}" type="slidenum">
              <a:rPr lang="en-IN" smtClean="0"/>
              <a:t>‹#›</a:t>
            </a:fld>
            <a:endParaRPr lang="en-IN"/>
          </a:p>
        </p:txBody>
      </p:sp>
    </p:spTree>
    <p:extLst>
      <p:ext uri="{BB962C8B-B14F-4D97-AF65-F5344CB8AC3E}">
        <p14:creationId xmlns:p14="http://schemas.microsoft.com/office/powerpoint/2010/main" val="1192862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97463F-D471-4C73-90C5-3273831A0716}"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ECA23-2519-4B06-9173-36D6A6056CD3}" type="slidenum">
              <a:rPr lang="en-IN" smtClean="0"/>
              <a:t>‹#›</a:t>
            </a:fld>
            <a:endParaRPr lang="en-IN"/>
          </a:p>
        </p:txBody>
      </p:sp>
    </p:spTree>
    <p:extLst>
      <p:ext uri="{BB962C8B-B14F-4D97-AF65-F5344CB8AC3E}">
        <p14:creationId xmlns:p14="http://schemas.microsoft.com/office/powerpoint/2010/main" val="67389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797463F-D471-4C73-90C5-3273831A0716}" type="datetimeFigureOut">
              <a:rPr lang="en-IN" smtClean="0"/>
              <a:t>18-09-2025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BFECA23-2519-4B06-9173-36D6A6056CD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180354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86DBB9-AC3E-0879-8A02-31EE0F5FF616}"/>
              </a:ext>
            </a:extLst>
          </p:cNvPr>
          <p:cNvPicPr>
            <a:picLocks noChangeAspect="1"/>
          </p:cNvPicPr>
          <p:nvPr/>
        </p:nvPicPr>
        <p:blipFill>
          <a:blip r:embed="rId2"/>
          <a:stretch>
            <a:fillRect/>
          </a:stretch>
        </p:blipFill>
        <p:spPr>
          <a:xfrm>
            <a:off x="3047736" y="1714351"/>
            <a:ext cx="6096528" cy="3429297"/>
          </a:xfrm>
          <a:prstGeom prst="rect">
            <a:avLst/>
          </a:prstGeom>
        </p:spPr>
      </p:pic>
      <p:pic>
        <p:nvPicPr>
          <p:cNvPr id="3" name="Picture 2">
            <a:extLst>
              <a:ext uri="{FF2B5EF4-FFF2-40B4-BE49-F238E27FC236}">
                <a16:creationId xmlns:a16="http://schemas.microsoft.com/office/drawing/2014/main" id="{F9AC2C0A-2764-E8B0-9A16-08C0BCF639C3}"/>
              </a:ext>
            </a:extLst>
          </p:cNvPr>
          <p:cNvPicPr>
            <a:picLocks noChangeAspect="1"/>
          </p:cNvPicPr>
          <p:nvPr/>
        </p:nvPicPr>
        <p:blipFill>
          <a:blip r:embed="rId2"/>
          <a:stretch>
            <a:fillRect/>
          </a:stretch>
        </p:blipFill>
        <p:spPr>
          <a:xfrm>
            <a:off x="3200136" y="1866751"/>
            <a:ext cx="6096528" cy="3429297"/>
          </a:xfrm>
          <a:prstGeom prst="rect">
            <a:avLst/>
          </a:prstGeom>
        </p:spPr>
      </p:pic>
      <p:pic>
        <p:nvPicPr>
          <p:cNvPr id="4" name="Picture 3">
            <a:extLst>
              <a:ext uri="{FF2B5EF4-FFF2-40B4-BE49-F238E27FC236}">
                <a16:creationId xmlns:a16="http://schemas.microsoft.com/office/drawing/2014/main" id="{F47FADBA-70E4-53EB-B575-8CF0CE0F2DBF}"/>
              </a:ext>
            </a:extLst>
          </p:cNvPr>
          <p:cNvPicPr>
            <a:picLocks noChangeAspect="1"/>
          </p:cNvPicPr>
          <p:nvPr/>
        </p:nvPicPr>
        <p:blipFill>
          <a:blip r:embed="rId3"/>
          <a:stretch>
            <a:fillRect/>
          </a:stretch>
        </p:blipFill>
        <p:spPr>
          <a:xfrm>
            <a:off x="1436915" y="1561952"/>
            <a:ext cx="8307976" cy="4533771"/>
          </a:xfrm>
          <a:prstGeom prst="rect">
            <a:avLst/>
          </a:prstGeom>
        </p:spPr>
      </p:pic>
      <p:sp>
        <p:nvSpPr>
          <p:cNvPr id="5" name="TextBox 4">
            <a:extLst>
              <a:ext uri="{FF2B5EF4-FFF2-40B4-BE49-F238E27FC236}">
                <a16:creationId xmlns:a16="http://schemas.microsoft.com/office/drawing/2014/main" id="{88BB11D7-5375-67FB-5C33-7B76C5CFC94B}"/>
              </a:ext>
            </a:extLst>
          </p:cNvPr>
          <p:cNvSpPr txBox="1"/>
          <p:nvPr/>
        </p:nvSpPr>
        <p:spPr>
          <a:xfrm>
            <a:off x="827315" y="329901"/>
            <a:ext cx="9771017" cy="923330"/>
          </a:xfrm>
          <a:prstGeom prst="rect">
            <a:avLst/>
          </a:prstGeom>
          <a:noFill/>
        </p:spPr>
        <p:txBody>
          <a:bodyPr wrap="square" rtlCol="0">
            <a:spAutoFit/>
          </a:bodyPr>
          <a:lstStyle/>
          <a:p>
            <a:pPr algn="ctr"/>
            <a:r>
              <a:rPr lang="en-IN" sz="5400" b="1" dirty="0">
                <a:latin typeface="Times New Roman" panose="02020603050405020304" pitchFamily="18" charset="0"/>
                <a:cs typeface="Times New Roman" panose="02020603050405020304" pitchFamily="18" charset="0"/>
              </a:rPr>
              <a:t>Zomato Data Analysis</a:t>
            </a:r>
          </a:p>
        </p:txBody>
      </p:sp>
    </p:spTree>
    <p:extLst>
      <p:ext uri="{BB962C8B-B14F-4D97-AF65-F5344CB8AC3E}">
        <p14:creationId xmlns:p14="http://schemas.microsoft.com/office/powerpoint/2010/main" val="2053414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7F956-B208-9DB1-F9A2-0F0F69D5CEF7}"/>
              </a:ext>
            </a:extLst>
          </p:cNvPr>
          <p:cNvSpPr txBox="1">
            <a:spLocks/>
          </p:cNvSpPr>
          <p:nvPr/>
        </p:nvSpPr>
        <p:spPr>
          <a:xfrm>
            <a:off x="838200" y="365126"/>
            <a:ext cx="10515600" cy="801823"/>
          </a:xfrm>
          <a:prstGeom prst="rect">
            <a:avLst/>
          </a:prstGeom>
          <a:solidFill>
            <a:srgbClr val="FF0000"/>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t> </a:t>
            </a:r>
            <a:r>
              <a:rPr lang="en-IN" dirty="0">
                <a:solidFill>
                  <a:schemeClr val="bg1"/>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19D8306B-40D4-7F7A-E60C-729BA3F706F3}"/>
              </a:ext>
            </a:extLst>
          </p:cNvPr>
          <p:cNvSpPr txBox="1"/>
          <p:nvPr/>
        </p:nvSpPr>
        <p:spPr>
          <a:xfrm>
            <a:off x="838200" y="1508985"/>
            <a:ext cx="6096000" cy="4401205"/>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The Zomato Restaurant Analysis System helps analyses restaurant data, including orders, customers, payments, and reviews. It allows users to filter restaurants by location, cuisine, and rating, track customer spending, review patterns, and payment status. This system provides useful insights to improve customer service and restaurant performance.</a:t>
            </a:r>
          </a:p>
        </p:txBody>
      </p:sp>
      <p:pic>
        <p:nvPicPr>
          <p:cNvPr id="3" name="Picture 2">
            <a:extLst>
              <a:ext uri="{FF2B5EF4-FFF2-40B4-BE49-F238E27FC236}">
                <a16:creationId xmlns:a16="http://schemas.microsoft.com/office/drawing/2014/main" id="{7D7EF421-7DD3-F62C-DC3B-0992A6488814}"/>
              </a:ext>
            </a:extLst>
          </p:cNvPr>
          <p:cNvPicPr>
            <a:picLocks noChangeAspect="1"/>
          </p:cNvPicPr>
          <p:nvPr/>
        </p:nvPicPr>
        <p:blipFill>
          <a:blip r:embed="rId2"/>
          <a:stretch>
            <a:fillRect/>
          </a:stretch>
        </p:blipFill>
        <p:spPr>
          <a:xfrm>
            <a:off x="6871062" y="1398662"/>
            <a:ext cx="5006341" cy="4621849"/>
          </a:xfrm>
          <a:prstGeom prst="rect">
            <a:avLst/>
          </a:prstGeom>
        </p:spPr>
      </p:pic>
    </p:spTree>
    <p:extLst>
      <p:ext uri="{BB962C8B-B14F-4D97-AF65-F5344CB8AC3E}">
        <p14:creationId xmlns:p14="http://schemas.microsoft.com/office/powerpoint/2010/main" val="2679549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73E471-576B-5FE2-F486-B02FC7371A68}"/>
              </a:ext>
            </a:extLst>
          </p:cNvPr>
          <p:cNvPicPr>
            <a:picLocks noChangeAspect="1"/>
          </p:cNvPicPr>
          <p:nvPr/>
        </p:nvPicPr>
        <p:blipFill>
          <a:blip r:embed="rId2">
            <a:extLst>
              <a:ext uri="{28A0092B-C50C-407E-A947-70E740481C1C}">
                <a14:useLocalDpi xmlns:a14="http://schemas.microsoft.com/office/drawing/2010/main" val="0"/>
              </a:ext>
            </a:extLst>
          </a:blip>
          <a:srcRect b="8063"/>
          <a:stretch>
            <a:fillRect/>
          </a:stretch>
        </p:blipFill>
        <p:spPr>
          <a:xfrm>
            <a:off x="838200" y="1184366"/>
            <a:ext cx="9919062" cy="4825611"/>
          </a:xfrm>
          <a:prstGeom prst="rect">
            <a:avLst/>
          </a:prstGeom>
        </p:spPr>
      </p:pic>
      <p:sp>
        <p:nvSpPr>
          <p:cNvPr id="6" name="Title 1">
            <a:extLst>
              <a:ext uri="{FF2B5EF4-FFF2-40B4-BE49-F238E27FC236}">
                <a16:creationId xmlns:a16="http://schemas.microsoft.com/office/drawing/2014/main" id="{D95C4754-FA75-2263-AD25-BA1F198F73F4}"/>
              </a:ext>
            </a:extLst>
          </p:cNvPr>
          <p:cNvSpPr txBox="1">
            <a:spLocks/>
          </p:cNvSpPr>
          <p:nvPr/>
        </p:nvSpPr>
        <p:spPr>
          <a:xfrm>
            <a:off x="838200" y="256902"/>
            <a:ext cx="10515600" cy="653777"/>
          </a:xfrm>
          <a:prstGeom prst="rect">
            <a:avLst/>
          </a:prstGeom>
          <a:solidFill>
            <a:srgbClr val="FF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solidFill>
                  <a:schemeClr val="bg1"/>
                </a:solidFill>
                <a:latin typeface="Times New Roman" panose="02020603050405020304" pitchFamily="18" charset="0"/>
                <a:cs typeface="Times New Roman" panose="02020603050405020304" pitchFamily="18" charset="0"/>
              </a:rPr>
              <a:t>ER DIAGRAM</a:t>
            </a:r>
          </a:p>
        </p:txBody>
      </p:sp>
    </p:spTree>
    <p:extLst>
      <p:ext uri="{BB962C8B-B14F-4D97-AF65-F5344CB8AC3E}">
        <p14:creationId xmlns:p14="http://schemas.microsoft.com/office/powerpoint/2010/main" val="1668737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B202F-9EFA-A29C-F376-5FA5B4BCCF27}"/>
              </a:ext>
            </a:extLst>
          </p:cNvPr>
          <p:cNvSpPr>
            <a:spLocks noGrp="1"/>
          </p:cNvSpPr>
          <p:nvPr>
            <p:ph type="title"/>
          </p:nvPr>
        </p:nvSpPr>
        <p:spPr>
          <a:xfrm>
            <a:off x="838200" y="365126"/>
            <a:ext cx="10515600" cy="806970"/>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STRUCTURE OF TABLE</a:t>
            </a:r>
          </a:p>
        </p:txBody>
      </p:sp>
      <p:pic>
        <p:nvPicPr>
          <p:cNvPr id="3" name="Picture 2">
            <a:extLst>
              <a:ext uri="{FF2B5EF4-FFF2-40B4-BE49-F238E27FC236}">
                <a16:creationId xmlns:a16="http://schemas.microsoft.com/office/drawing/2014/main" id="{6890DD4A-5315-12A6-2EEC-A736734F1284}"/>
              </a:ext>
            </a:extLst>
          </p:cNvPr>
          <p:cNvPicPr>
            <a:picLocks noChangeAspect="1"/>
          </p:cNvPicPr>
          <p:nvPr/>
        </p:nvPicPr>
        <p:blipFill>
          <a:blip r:embed="rId2"/>
          <a:stretch>
            <a:fillRect/>
          </a:stretch>
        </p:blipFill>
        <p:spPr>
          <a:xfrm>
            <a:off x="5364481" y="3211593"/>
            <a:ext cx="6374674" cy="2927431"/>
          </a:xfrm>
          <a:prstGeom prst="rect">
            <a:avLst/>
          </a:prstGeom>
        </p:spPr>
      </p:pic>
      <p:sp>
        <p:nvSpPr>
          <p:cNvPr id="4" name="TextBox 3">
            <a:extLst>
              <a:ext uri="{FF2B5EF4-FFF2-40B4-BE49-F238E27FC236}">
                <a16:creationId xmlns:a16="http://schemas.microsoft.com/office/drawing/2014/main" id="{D6618548-7A2E-8328-4E39-742FCA3346C3}"/>
              </a:ext>
            </a:extLst>
          </p:cNvPr>
          <p:cNvSpPr txBox="1"/>
          <p:nvPr/>
        </p:nvSpPr>
        <p:spPr>
          <a:xfrm>
            <a:off x="644434" y="1322983"/>
            <a:ext cx="10075817" cy="193899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Restaurants Table</a:t>
            </a:r>
          </a:p>
          <a:p>
            <a:r>
              <a:rPr lang="en-IN" sz="2400" dirty="0">
                <a:solidFill>
                  <a:schemeClr val="bg2">
                    <a:lumMod val="50000"/>
                  </a:schemeClr>
                </a:solidFill>
                <a:latin typeface="Times New Roman" panose="02020603050405020304" pitchFamily="18" charset="0"/>
                <a:cs typeface="Times New Roman" panose="02020603050405020304" pitchFamily="18" charset="0"/>
              </a:rPr>
              <a:t>CREATE TABLE Restaurants (Restaurant ID INT PRIMARY KEY, Name VARCHAR(255),Cuisine VARCHAR(100),Location VARCHAR(100),Average Rating DECIMAL(3,2),Review Count INT);</a:t>
            </a:r>
          </a:p>
          <a:p>
            <a:r>
              <a:rPr lang="en-IN" sz="2400" b="1" dirty="0">
                <a:latin typeface="Times New Roman" panose="02020603050405020304" pitchFamily="18" charset="0"/>
                <a:cs typeface="Times New Roman" panose="02020603050405020304" pitchFamily="18" charset="0"/>
              </a:rPr>
              <a:t>Syntax</a:t>
            </a:r>
            <a:r>
              <a:rPr lang="en-IN" sz="2400" dirty="0">
                <a:latin typeface="Times New Roman" panose="02020603050405020304" pitchFamily="18" charset="0"/>
                <a:cs typeface="Times New Roman" panose="02020603050405020304" pitchFamily="18" charset="0"/>
              </a:rPr>
              <a:t> : </a:t>
            </a:r>
            <a:r>
              <a:rPr lang="en-IN" sz="2400" dirty="0">
                <a:solidFill>
                  <a:schemeClr val="bg2">
                    <a:lumMod val="50000"/>
                  </a:schemeClr>
                </a:solidFill>
                <a:latin typeface="Times New Roman" panose="02020603050405020304" pitchFamily="18" charset="0"/>
                <a:cs typeface="Times New Roman" panose="02020603050405020304" pitchFamily="18" charset="0"/>
              </a:rPr>
              <a:t>Desc Restaurants;</a:t>
            </a:r>
          </a:p>
        </p:txBody>
      </p:sp>
    </p:spTree>
    <p:extLst>
      <p:ext uri="{BB962C8B-B14F-4D97-AF65-F5344CB8AC3E}">
        <p14:creationId xmlns:p14="http://schemas.microsoft.com/office/powerpoint/2010/main" val="233447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1A41A-3717-3DE6-F0EF-1B17B877FD8E}"/>
              </a:ext>
            </a:extLst>
          </p:cNvPr>
          <p:cNvSpPr>
            <a:spLocks noGrp="1"/>
          </p:cNvSpPr>
          <p:nvPr>
            <p:ph type="title"/>
          </p:nvPr>
        </p:nvSpPr>
        <p:spPr>
          <a:xfrm>
            <a:off x="838200" y="365126"/>
            <a:ext cx="10515600" cy="806970"/>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STRUCTURE OF TABLE</a:t>
            </a:r>
          </a:p>
        </p:txBody>
      </p:sp>
      <p:pic>
        <p:nvPicPr>
          <p:cNvPr id="3" name="Picture 2">
            <a:extLst>
              <a:ext uri="{FF2B5EF4-FFF2-40B4-BE49-F238E27FC236}">
                <a16:creationId xmlns:a16="http://schemas.microsoft.com/office/drawing/2014/main" id="{05B26EE6-CCA9-BD2C-C61C-5A90BDAE2711}"/>
              </a:ext>
            </a:extLst>
          </p:cNvPr>
          <p:cNvPicPr>
            <a:picLocks noChangeAspect="1"/>
          </p:cNvPicPr>
          <p:nvPr/>
        </p:nvPicPr>
        <p:blipFill>
          <a:blip r:embed="rId2"/>
          <a:stretch>
            <a:fillRect/>
          </a:stretch>
        </p:blipFill>
        <p:spPr>
          <a:xfrm>
            <a:off x="4093029" y="2819400"/>
            <a:ext cx="7123611" cy="2899303"/>
          </a:xfrm>
          <a:prstGeom prst="rect">
            <a:avLst/>
          </a:prstGeom>
        </p:spPr>
      </p:pic>
      <p:sp>
        <p:nvSpPr>
          <p:cNvPr id="4" name="TextBox 3">
            <a:extLst>
              <a:ext uri="{FF2B5EF4-FFF2-40B4-BE49-F238E27FC236}">
                <a16:creationId xmlns:a16="http://schemas.microsoft.com/office/drawing/2014/main" id="{209AAF47-47BC-1049-D7A7-E485E2D6BFC7}"/>
              </a:ext>
            </a:extLst>
          </p:cNvPr>
          <p:cNvSpPr txBox="1"/>
          <p:nvPr/>
        </p:nvSpPr>
        <p:spPr>
          <a:xfrm>
            <a:off x="453811" y="1295961"/>
            <a:ext cx="10943532" cy="193899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Customers table</a:t>
            </a:r>
          </a:p>
          <a:p>
            <a:r>
              <a:rPr lang="en-US" sz="2400" dirty="0">
                <a:solidFill>
                  <a:schemeClr val="bg2">
                    <a:lumMod val="50000"/>
                  </a:schemeClr>
                </a:solidFill>
                <a:latin typeface="Times New Roman" panose="02020603050405020304" pitchFamily="18" charset="0"/>
                <a:cs typeface="Times New Roman" panose="02020603050405020304" pitchFamily="18" charset="0"/>
              </a:rPr>
              <a:t>CREATE TABLE Customers (CustomerID INT PRIMARY KEY, Name VARCHAR(255),Email VARCHAR(100),Phone Number VARCHAR(15),Address VARCHAR(255));</a:t>
            </a:r>
            <a:endParaRPr lang="en-IN" sz="2400" dirty="0">
              <a:solidFill>
                <a:schemeClr val="bg2">
                  <a:lumMod val="50000"/>
                </a:schemeClr>
              </a:solidFill>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Syntax</a:t>
            </a:r>
            <a:r>
              <a:rPr lang="en-IN" sz="2400" dirty="0">
                <a:latin typeface="Times New Roman" panose="02020603050405020304" pitchFamily="18" charset="0"/>
                <a:cs typeface="Times New Roman" panose="02020603050405020304" pitchFamily="18" charset="0"/>
              </a:rPr>
              <a:t> : </a:t>
            </a:r>
            <a:r>
              <a:rPr lang="en-IN" sz="2400" dirty="0">
                <a:solidFill>
                  <a:schemeClr val="bg2">
                    <a:lumMod val="50000"/>
                  </a:schemeClr>
                </a:solidFill>
                <a:latin typeface="Times New Roman" panose="02020603050405020304" pitchFamily="18" charset="0"/>
                <a:cs typeface="Times New Roman" panose="02020603050405020304" pitchFamily="18" charset="0"/>
              </a:rPr>
              <a:t>Desc customers;</a:t>
            </a:r>
          </a:p>
        </p:txBody>
      </p:sp>
    </p:spTree>
    <p:extLst>
      <p:ext uri="{BB962C8B-B14F-4D97-AF65-F5344CB8AC3E}">
        <p14:creationId xmlns:p14="http://schemas.microsoft.com/office/powerpoint/2010/main" val="2943861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2F42347-4663-EFB5-B211-C404B741601D}"/>
              </a:ext>
            </a:extLst>
          </p:cNvPr>
          <p:cNvSpPr>
            <a:spLocks noGrp="1"/>
          </p:cNvSpPr>
          <p:nvPr>
            <p:ph type="title"/>
          </p:nvPr>
        </p:nvSpPr>
        <p:spPr>
          <a:xfrm>
            <a:off x="838200" y="365126"/>
            <a:ext cx="10515600" cy="810531"/>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STRUCTURE OF TABLE</a:t>
            </a:r>
          </a:p>
        </p:txBody>
      </p:sp>
      <p:pic>
        <p:nvPicPr>
          <p:cNvPr id="4" name="Picture 3">
            <a:extLst>
              <a:ext uri="{FF2B5EF4-FFF2-40B4-BE49-F238E27FC236}">
                <a16:creationId xmlns:a16="http://schemas.microsoft.com/office/drawing/2014/main" id="{F2859CE6-1704-B723-9A9A-1E8DC0E18F8F}"/>
              </a:ext>
            </a:extLst>
          </p:cNvPr>
          <p:cNvPicPr>
            <a:picLocks noChangeAspect="1"/>
          </p:cNvPicPr>
          <p:nvPr/>
        </p:nvPicPr>
        <p:blipFill>
          <a:blip r:embed="rId2"/>
          <a:srcRect r="20104"/>
          <a:stretch>
            <a:fillRect/>
          </a:stretch>
        </p:blipFill>
        <p:spPr>
          <a:xfrm>
            <a:off x="3553098" y="3716384"/>
            <a:ext cx="8055427" cy="2461042"/>
          </a:xfrm>
          <a:prstGeom prst="rect">
            <a:avLst/>
          </a:prstGeom>
        </p:spPr>
      </p:pic>
      <p:sp>
        <p:nvSpPr>
          <p:cNvPr id="5" name="TextBox 4">
            <a:extLst>
              <a:ext uri="{FF2B5EF4-FFF2-40B4-BE49-F238E27FC236}">
                <a16:creationId xmlns:a16="http://schemas.microsoft.com/office/drawing/2014/main" id="{B17627DC-D8BB-D353-16CF-2201550280EC}"/>
              </a:ext>
            </a:extLst>
          </p:cNvPr>
          <p:cNvSpPr txBox="1"/>
          <p:nvPr/>
        </p:nvSpPr>
        <p:spPr>
          <a:xfrm>
            <a:off x="522514" y="1305834"/>
            <a:ext cx="11425646" cy="2677656"/>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Orders table</a:t>
            </a:r>
          </a:p>
          <a:p>
            <a:r>
              <a:rPr lang="en-IN" sz="2400" dirty="0">
                <a:solidFill>
                  <a:schemeClr val="bg2">
                    <a:lumMod val="50000"/>
                  </a:schemeClr>
                </a:solidFill>
                <a:latin typeface="Times New Roman" panose="02020603050405020304" pitchFamily="18" charset="0"/>
                <a:cs typeface="Times New Roman" panose="02020603050405020304" pitchFamily="18" charset="0"/>
              </a:rPr>
              <a:t>CREATE TABLE Orders (Order ID INT PRIMARY KEY, CustomerID INT, Restaurant ID INT, Order Date DATETIME, Total Amount DECIMAL(10,2),Payment Mode VARCHAR(50),FOREIGN KEY (CustomerID) REFERENCES Customers(CustomerID),FOREIGN KEY (Restaurant ID) REFERENCES Restaurants(Restaurant ID));</a:t>
            </a:r>
          </a:p>
          <a:p>
            <a:r>
              <a:rPr lang="en-IN" sz="2400" b="1" dirty="0">
                <a:latin typeface="Times New Roman" panose="02020603050405020304" pitchFamily="18" charset="0"/>
                <a:cs typeface="Times New Roman" panose="02020603050405020304" pitchFamily="18" charset="0"/>
              </a:rPr>
              <a:t>Syntax</a:t>
            </a:r>
            <a:r>
              <a:rPr lang="en-IN" sz="2400" dirty="0">
                <a:latin typeface="Times New Roman" panose="02020603050405020304" pitchFamily="18" charset="0"/>
                <a:cs typeface="Times New Roman" panose="02020603050405020304" pitchFamily="18" charset="0"/>
              </a:rPr>
              <a:t>: </a:t>
            </a:r>
            <a:r>
              <a:rPr lang="en-IN" sz="2400" dirty="0">
                <a:solidFill>
                  <a:schemeClr val="bg2">
                    <a:lumMod val="50000"/>
                  </a:schemeClr>
                </a:solidFill>
                <a:latin typeface="Times New Roman" panose="02020603050405020304" pitchFamily="18" charset="0"/>
                <a:cs typeface="Times New Roman" panose="02020603050405020304" pitchFamily="18" charset="0"/>
              </a:rPr>
              <a:t>Desc Orders;</a:t>
            </a:r>
          </a:p>
        </p:txBody>
      </p:sp>
    </p:spTree>
    <p:extLst>
      <p:ext uri="{BB962C8B-B14F-4D97-AF65-F5344CB8AC3E}">
        <p14:creationId xmlns:p14="http://schemas.microsoft.com/office/powerpoint/2010/main" val="53843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59C224-8F58-A685-172E-40388A186A23}"/>
              </a:ext>
            </a:extLst>
          </p:cNvPr>
          <p:cNvSpPr>
            <a:spLocks noGrp="1"/>
          </p:cNvSpPr>
          <p:nvPr>
            <p:ph type="title"/>
          </p:nvPr>
        </p:nvSpPr>
        <p:spPr>
          <a:xfrm>
            <a:off x="838200" y="365126"/>
            <a:ext cx="10515600" cy="836657"/>
          </a:xfrm>
          <a:solidFill>
            <a:srgbClr val="FF0000"/>
          </a:solidFill>
        </p:spPr>
        <p:txBody>
          <a:bodyPr/>
          <a:lstStyle/>
          <a:p>
            <a:pPr algn="ctr"/>
            <a:r>
              <a:rPr lang="en-IN" dirty="0">
                <a:solidFill>
                  <a:schemeClr val="bg1"/>
                </a:solidFill>
                <a:latin typeface="Times New Roman" panose="02020603050405020304" pitchFamily="18" charset="0"/>
                <a:cs typeface="Times New Roman" panose="02020603050405020304" pitchFamily="18" charset="0"/>
              </a:rPr>
              <a:t>STRUCTURE OF TABLE</a:t>
            </a:r>
          </a:p>
        </p:txBody>
      </p:sp>
      <p:pic>
        <p:nvPicPr>
          <p:cNvPr id="4" name="Picture 3">
            <a:extLst>
              <a:ext uri="{FF2B5EF4-FFF2-40B4-BE49-F238E27FC236}">
                <a16:creationId xmlns:a16="http://schemas.microsoft.com/office/drawing/2014/main" id="{06071969-A429-1B9B-DABB-63E31A76111B}"/>
              </a:ext>
            </a:extLst>
          </p:cNvPr>
          <p:cNvPicPr>
            <a:picLocks noChangeAspect="1"/>
          </p:cNvPicPr>
          <p:nvPr/>
        </p:nvPicPr>
        <p:blipFill>
          <a:blip r:embed="rId2"/>
          <a:srcRect r="27778"/>
          <a:stretch>
            <a:fillRect/>
          </a:stretch>
        </p:blipFill>
        <p:spPr>
          <a:xfrm>
            <a:off x="4582731" y="3345129"/>
            <a:ext cx="6172355" cy="2868671"/>
          </a:xfrm>
          <a:prstGeom prst="rect">
            <a:avLst/>
          </a:prstGeom>
        </p:spPr>
      </p:pic>
      <p:sp>
        <p:nvSpPr>
          <p:cNvPr id="5" name="TextBox 4">
            <a:extLst>
              <a:ext uri="{FF2B5EF4-FFF2-40B4-BE49-F238E27FC236}">
                <a16:creationId xmlns:a16="http://schemas.microsoft.com/office/drawing/2014/main" id="{511622C9-0836-18EF-C18C-B47694BC2F62}"/>
              </a:ext>
            </a:extLst>
          </p:cNvPr>
          <p:cNvSpPr txBox="1"/>
          <p:nvPr/>
        </p:nvSpPr>
        <p:spPr>
          <a:xfrm>
            <a:off x="905691" y="1366888"/>
            <a:ext cx="10676619" cy="230832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Reviews Table</a:t>
            </a:r>
          </a:p>
          <a:p>
            <a:r>
              <a:rPr lang="en-US" sz="2400" dirty="0">
                <a:solidFill>
                  <a:schemeClr val="bg2">
                    <a:lumMod val="50000"/>
                  </a:schemeClr>
                </a:solidFill>
                <a:latin typeface="Times New Roman" panose="02020603050405020304" pitchFamily="18" charset="0"/>
                <a:cs typeface="Times New Roman" panose="02020603050405020304" pitchFamily="18" charset="0"/>
              </a:rPr>
              <a:t>CREATE TABLE Reviews (Review ID INT PRIMARY KEY, Customer ID INT, Restaurant ID INT, Review Date DATETIME,Rating INT, Review Text TEXT,FOREIGN KEY (CustomerID) REFERENCES Customers(CustomerID), FOREIGN KEY (Restaurant ID) REFERENCES Restaurants(Restaurant ID));</a:t>
            </a:r>
            <a:endParaRPr lang="en-IN" sz="2400" dirty="0">
              <a:solidFill>
                <a:schemeClr val="bg2">
                  <a:lumMod val="50000"/>
                </a:schemeClr>
              </a:solidFill>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Syntax </a:t>
            </a:r>
            <a:r>
              <a:rPr lang="en-IN" sz="2400" dirty="0">
                <a:latin typeface="Times New Roman" panose="02020603050405020304" pitchFamily="18" charset="0"/>
                <a:cs typeface="Times New Roman" panose="02020603050405020304" pitchFamily="18" charset="0"/>
              </a:rPr>
              <a:t>: </a:t>
            </a:r>
            <a:r>
              <a:rPr lang="en-IN" sz="2400" dirty="0">
                <a:solidFill>
                  <a:schemeClr val="bg2">
                    <a:lumMod val="50000"/>
                  </a:schemeClr>
                </a:solidFill>
                <a:latin typeface="Times New Roman" panose="02020603050405020304" pitchFamily="18" charset="0"/>
                <a:cs typeface="Times New Roman" panose="02020603050405020304" pitchFamily="18" charset="0"/>
              </a:rPr>
              <a:t>Desc Reviews;</a:t>
            </a:r>
            <a:endParaRPr lang="en-IN" sz="2400" b="1"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8860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2C51C86-D9A9-0B68-1A1D-75A8A69D5CB6}"/>
              </a:ext>
            </a:extLst>
          </p:cNvPr>
          <p:cNvSpPr>
            <a:spLocks noGrp="1"/>
          </p:cNvSpPr>
          <p:nvPr>
            <p:ph type="title"/>
          </p:nvPr>
        </p:nvSpPr>
        <p:spPr>
          <a:xfrm>
            <a:off x="838200" y="365126"/>
            <a:ext cx="10515600" cy="869786"/>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STRUCTURE OF TABLE</a:t>
            </a:r>
          </a:p>
        </p:txBody>
      </p:sp>
      <p:pic>
        <p:nvPicPr>
          <p:cNvPr id="6" name="Picture 5">
            <a:extLst>
              <a:ext uri="{FF2B5EF4-FFF2-40B4-BE49-F238E27FC236}">
                <a16:creationId xmlns:a16="http://schemas.microsoft.com/office/drawing/2014/main" id="{025F7249-B394-0795-168A-AFEBAA402FDC}"/>
              </a:ext>
            </a:extLst>
          </p:cNvPr>
          <p:cNvPicPr>
            <a:picLocks noChangeAspect="1"/>
          </p:cNvPicPr>
          <p:nvPr/>
        </p:nvPicPr>
        <p:blipFill>
          <a:blip r:embed="rId2"/>
          <a:srcRect r="21154"/>
          <a:stretch>
            <a:fillRect/>
          </a:stretch>
        </p:blipFill>
        <p:spPr>
          <a:xfrm>
            <a:off x="4170979" y="3139297"/>
            <a:ext cx="6827947" cy="2852200"/>
          </a:xfrm>
          <a:prstGeom prst="rect">
            <a:avLst/>
          </a:prstGeom>
        </p:spPr>
      </p:pic>
      <p:sp>
        <p:nvSpPr>
          <p:cNvPr id="7" name="TextBox 6">
            <a:extLst>
              <a:ext uri="{FF2B5EF4-FFF2-40B4-BE49-F238E27FC236}">
                <a16:creationId xmlns:a16="http://schemas.microsoft.com/office/drawing/2014/main" id="{A6DCBE06-AA4C-6049-3CC2-7624BDDFF96A}"/>
              </a:ext>
            </a:extLst>
          </p:cNvPr>
          <p:cNvSpPr txBox="1"/>
          <p:nvPr/>
        </p:nvSpPr>
        <p:spPr>
          <a:xfrm>
            <a:off x="838200" y="1318158"/>
            <a:ext cx="10602461" cy="193899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Payments Table</a:t>
            </a:r>
          </a:p>
          <a:p>
            <a:r>
              <a:rPr lang="en-US" sz="2400" dirty="0">
                <a:solidFill>
                  <a:schemeClr val="bg2">
                    <a:lumMod val="50000"/>
                  </a:schemeClr>
                </a:solidFill>
                <a:latin typeface="Times New Roman" panose="02020603050405020304" pitchFamily="18" charset="0"/>
                <a:cs typeface="Times New Roman" panose="02020603050405020304" pitchFamily="18" charset="0"/>
              </a:rPr>
              <a:t>CREATE TABLE Payments (Payment ID INT PRIMARY KEY, OrderID INT, Payment Date DATETIME, Amount DECIMAL(10,2),Payment Method VARCHAR(50),FOREIGN KEY (Order ID) REFERENCES Orders(Order ID));</a:t>
            </a:r>
            <a:endParaRPr lang="en-IN" sz="2400" dirty="0">
              <a:solidFill>
                <a:schemeClr val="bg2">
                  <a:lumMod val="50000"/>
                </a:schemeClr>
              </a:solidFill>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Syntax</a:t>
            </a:r>
            <a:r>
              <a:rPr lang="en-IN" sz="2400" dirty="0">
                <a:latin typeface="Times New Roman" panose="02020603050405020304" pitchFamily="18" charset="0"/>
                <a:cs typeface="Times New Roman" panose="02020603050405020304" pitchFamily="18" charset="0"/>
              </a:rPr>
              <a:t> : </a:t>
            </a:r>
            <a:r>
              <a:rPr lang="en-IN" sz="2400" dirty="0">
                <a:solidFill>
                  <a:schemeClr val="bg2">
                    <a:lumMod val="50000"/>
                  </a:schemeClr>
                </a:solidFill>
                <a:latin typeface="Times New Roman" panose="02020603050405020304" pitchFamily="18" charset="0"/>
                <a:cs typeface="Times New Roman" panose="02020603050405020304" pitchFamily="18" charset="0"/>
              </a:rPr>
              <a:t>Desc Payments</a:t>
            </a:r>
            <a:r>
              <a:rPr lang="en-IN" sz="2400" dirty="0">
                <a:solidFill>
                  <a:schemeClr val="bg2">
                    <a:lumMod val="50000"/>
                  </a:schemeClr>
                </a:solidFill>
              </a:rPr>
              <a:t>;</a:t>
            </a:r>
          </a:p>
        </p:txBody>
      </p:sp>
    </p:spTree>
    <p:extLst>
      <p:ext uri="{BB962C8B-B14F-4D97-AF65-F5344CB8AC3E}">
        <p14:creationId xmlns:p14="http://schemas.microsoft.com/office/powerpoint/2010/main" val="1073576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87C9-C426-60D3-E843-3826C4E303F8}"/>
              </a:ext>
            </a:extLst>
          </p:cNvPr>
          <p:cNvSpPr>
            <a:spLocks noGrp="1"/>
          </p:cNvSpPr>
          <p:nvPr>
            <p:ph type="title"/>
          </p:nvPr>
        </p:nvSpPr>
        <p:spPr>
          <a:xfrm>
            <a:off x="838200" y="365126"/>
            <a:ext cx="10515600" cy="845366"/>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CONTENT OF TABLE</a:t>
            </a:r>
          </a:p>
        </p:txBody>
      </p:sp>
      <p:pic>
        <p:nvPicPr>
          <p:cNvPr id="3" name="Picture 2">
            <a:extLst>
              <a:ext uri="{FF2B5EF4-FFF2-40B4-BE49-F238E27FC236}">
                <a16:creationId xmlns:a16="http://schemas.microsoft.com/office/drawing/2014/main" id="{EBD381BC-9486-6E61-1DEF-AFA732037AA0}"/>
              </a:ext>
            </a:extLst>
          </p:cNvPr>
          <p:cNvPicPr>
            <a:picLocks noChangeAspect="1"/>
          </p:cNvPicPr>
          <p:nvPr/>
        </p:nvPicPr>
        <p:blipFill>
          <a:blip r:embed="rId2"/>
          <a:stretch>
            <a:fillRect/>
          </a:stretch>
        </p:blipFill>
        <p:spPr>
          <a:xfrm>
            <a:off x="2501537" y="2342604"/>
            <a:ext cx="6450875" cy="3675018"/>
          </a:xfrm>
          <a:prstGeom prst="rect">
            <a:avLst/>
          </a:prstGeom>
        </p:spPr>
      </p:pic>
      <p:sp>
        <p:nvSpPr>
          <p:cNvPr id="5" name="TextBox 4">
            <a:extLst>
              <a:ext uri="{FF2B5EF4-FFF2-40B4-BE49-F238E27FC236}">
                <a16:creationId xmlns:a16="http://schemas.microsoft.com/office/drawing/2014/main" id="{EEF14E98-8891-C2D0-F8F3-2A5554ECB760}"/>
              </a:ext>
            </a:extLst>
          </p:cNvPr>
          <p:cNvSpPr txBox="1"/>
          <p:nvPr/>
        </p:nvSpPr>
        <p:spPr>
          <a:xfrm>
            <a:off x="1210491" y="1733006"/>
            <a:ext cx="8621486" cy="461665"/>
          </a:xfrm>
          <a:prstGeom prst="rect">
            <a:avLst/>
          </a:prstGeom>
          <a:noFill/>
        </p:spPr>
        <p:txBody>
          <a:bodyPr wrap="square" rtlCol="0">
            <a:spAutoFit/>
          </a:bodyPr>
          <a:lstStyle/>
          <a:p>
            <a:pPr algn="ctr"/>
            <a:r>
              <a:rPr lang="en-IN" sz="2400" dirty="0">
                <a:solidFill>
                  <a:schemeClr val="bg2">
                    <a:lumMod val="50000"/>
                  </a:schemeClr>
                </a:solidFill>
                <a:latin typeface="Times New Roman" panose="02020603050405020304" pitchFamily="18" charset="0"/>
                <a:cs typeface="Times New Roman" panose="02020603050405020304" pitchFamily="18" charset="0"/>
              </a:rPr>
              <a:t>Select * from Restaurants;</a:t>
            </a:r>
          </a:p>
        </p:txBody>
      </p:sp>
    </p:spTree>
    <p:extLst>
      <p:ext uri="{BB962C8B-B14F-4D97-AF65-F5344CB8AC3E}">
        <p14:creationId xmlns:p14="http://schemas.microsoft.com/office/powerpoint/2010/main" val="1732570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263A9B5-BC3B-3056-8FD8-5FBFA218EA53}"/>
              </a:ext>
            </a:extLst>
          </p:cNvPr>
          <p:cNvSpPr>
            <a:spLocks noGrp="1"/>
          </p:cNvSpPr>
          <p:nvPr>
            <p:ph type="title"/>
          </p:nvPr>
        </p:nvSpPr>
        <p:spPr>
          <a:xfrm>
            <a:off x="838200" y="365125"/>
            <a:ext cx="10515600" cy="854075"/>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CONTENT OF TABLE</a:t>
            </a:r>
          </a:p>
        </p:txBody>
      </p:sp>
      <p:pic>
        <p:nvPicPr>
          <p:cNvPr id="4" name="Picture 3">
            <a:extLst>
              <a:ext uri="{FF2B5EF4-FFF2-40B4-BE49-F238E27FC236}">
                <a16:creationId xmlns:a16="http://schemas.microsoft.com/office/drawing/2014/main" id="{AD635B2D-EF08-729E-287C-2CBA801F9D36}"/>
              </a:ext>
            </a:extLst>
          </p:cNvPr>
          <p:cNvPicPr>
            <a:picLocks noChangeAspect="1"/>
          </p:cNvPicPr>
          <p:nvPr/>
        </p:nvPicPr>
        <p:blipFill>
          <a:blip r:embed="rId2"/>
          <a:stretch>
            <a:fillRect/>
          </a:stretch>
        </p:blipFill>
        <p:spPr>
          <a:xfrm>
            <a:off x="2396626" y="2387101"/>
            <a:ext cx="7398748" cy="3465059"/>
          </a:xfrm>
          <a:prstGeom prst="rect">
            <a:avLst/>
          </a:prstGeom>
        </p:spPr>
      </p:pic>
      <p:sp>
        <p:nvSpPr>
          <p:cNvPr id="5" name="TextBox 4">
            <a:extLst>
              <a:ext uri="{FF2B5EF4-FFF2-40B4-BE49-F238E27FC236}">
                <a16:creationId xmlns:a16="http://schemas.microsoft.com/office/drawing/2014/main" id="{DA154C29-6542-5269-9E95-845980DC127E}"/>
              </a:ext>
            </a:extLst>
          </p:cNvPr>
          <p:cNvSpPr txBox="1"/>
          <p:nvPr/>
        </p:nvSpPr>
        <p:spPr>
          <a:xfrm>
            <a:off x="2447109" y="1741714"/>
            <a:ext cx="6827520" cy="461665"/>
          </a:xfrm>
          <a:prstGeom prst="rect">
            <a:avLst/>
          </a:prstGeom>
          <a:noFill/>
        </p:spPr>
        <p:txBody>
          <a:bodyPr wrap="square" rtlCol="0">
            <a:spAutoFit/>
          </a:bodyPr>
          <a:lstStyle/>
          <a:p>
            <a:pPr algn="ctr"/>
            <a:r>
              <a:rPr lang="en-IN" sz="2400" dirty="0">
                <a:solidFill>
                  <a:schemeClr val="bg2">
                    <a:lumMod val="50000"/>
                  </a:schemeClr>
                </a:solidFill>
                <a:latin typeface="Times New Roman" panose="02020603050405020304" pitchFamily="18" charset="0"/>
                <a:cs typeface="Times New Roman" panose="02020603050405020304" pitchFamily="18" charset="0"/>
              </a:rPr>
              <a:t>Select * from Customers;</a:t>
            </a:r>
          </a:p>
        </p:txBody>
      </p:sp>
    </p:spTree>
    <p:extLst>
      <p:ext uri="{BB962C8B-B14F-4D97-AF65-F5344CB8AC3E}">
        <p14:creationId xmlns:p14="http://schemas.microsoft.com/office/powerpoint/2010/main" val="171340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2E0D8D4-A7FF-5D68-D034-D17D3C2CAC8A}"/>
              </a:ext>
            </a:extLst>
          </p:cNvPr>
          <p:cNvSpPr>
            <a:spLocks noGrp="1"/>
          </p:cNvSpPr>
          <p:nvPr>
            <p:ph type="title"/>
          </p:nvPr>
        </p:nvSpPr>
        <p:spPr>
          <a:xfrm>
            <a:off x="838200" y="365126"/>
            <a:ext cx="10515600" cy="871492"/>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CONTENT OF TABLE</a:t>
            </a:r>
          </a:p>
        </p:txBody>
      </p:sp>
      <p:pic>
        <p:nvPicPr>
          <p:cNvPr id="4" name="Picture 3">
            <a:extLst>
              <a:ext uri="{FF2B5EF4-FFF2-40B4-BE49-F238E27FC236}">
                <a16:creationId xmlns:a16="http://schemas.microsoft.com/office/drawing/2014/main" id="{BD692867-9FE0-1164-6E9C-1D7881B7EA99}"/>
              </a:ext>
            </a:extLst>
          </p:cNvPr>
          <p:cNvPicPr>
            <a:picLocks noChangeAspect="1"/>
          </p:cNvPicPr>
          <p:nvPr/>
        </p:nvPicPr>
        <p:blipFill>
          <a:blip r:embed="rId2"/>
          <a:stretch>
            <a:fillRect/>
          </a:stretch>
        </p:blipFill>
        <p:spPr>
          <a:xfrm>
            <a:off x="1994262" y="2299064"/>
            <a:ext cx="7350034" cy="3823062"/>
          </a:xfrm>
          <a:prstGeom prst="rect">
            <a:avLst/>
          </a:prstGeom>
        </p:spPr>
      </p:pic>
      <p:sp>
        <p:nvSpPr>
          <p:cNvPr id="5" name="TextBox 4">
            <a:extLst>
              <a:ext uri="{FF2B5EF4-FFF2-40B4-BE49-F238E27FC236}">
                <a16:creationId xmlns:a16="http://schemas.microsoft.com/office/drawing/2014/main" id="{D5925B0A-195B-30EB-BA8F-25124734EF78}"/>
              </a:ext>
            </a:extLst>
          </p:cNvPr>
          <p:cNvSpPr txBox="1"/>
          <p:nvPr/>
        </p:nvSpPr>
        <p:spPr>
          <a:xfrm>
            <a:off x="2416628" y="1724298"/>
            <a:ext cx="6505303" cy="461665"/>
          </a:xfrm>
          <a:prstGeom prst="rect">
            <a:avLst/>
          </a:prstGeom>
          <a:noFill/>
        </p:spPr>
        <p:txBody>
          <a:bodyPr wrap="square" rtlCol="0">
            <a:spAutoFit/>
          </a:bodyPr>
          <a:lstStyle/>
          <a:p>
            <a:pPr algn="ctr"/>
            <a:r>
              <a:rPr lang="en-IN" sz="2400" dirty="0">
                <a:solidFill>
                  <a:schemeClr val="bg2">
                    <a:lumMod val="50000"/>
                  </a:schemeClr>
                </a:solidFill>
                <a:latin typeface="Times New Roman" panose="02020603050405020304" pitchFamily="18" charset="0"/>
                <a:cs typeface="Times New Roman" panose="02020603050405020304" pitchFamily="18" charset="0"/>
              </a:rPr>
              <a:t>Select * from Orders;</a:t>
            </a:r>
          </a:p>
        </p:txBody>
      </p:sp>
    </p:spTree>
    <p:extLst>
      <p:ext uri="{BB962C8B-B14F-4D97-AF65-F5344CB8AC3E}">
        <p14:creationId xmlns:p14="http://schemas.microsoft.com/office/powerpoint/2010/main" val="2122586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565DCC0-7652-4403-8EE7-BA334FF1861D}"/>
              </a:ext>
            </a:extLst>
          </p:cNvPr>
          <p:cNvSpPr>
            <a:spLocks noGrp="1"/>
          </p:cNvSpPr>
          <p:nvPr>
            <p:ph type="title"/>
          </p:nvPr>
        </p:nvSpPr>
        <p:spPr>
          <a:xfrm>
            <a:off x="838200" y="365126"/>
            <a:ext cx="10515600" cy="801824"/>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CONTENT OF TABLE</a:t>
            </a:r>
          </a:p>
        </p:txBody>
      </p:sp>
      <p:pic>
        <p:nvPicPr>
          <p:cNvPr id="4" name="Picture 3">
            <a:extLst>
              <a:ext uri="{FF2B5EF4-FFF2-40B4-BE49-F238E27FC236}">
                <a16:creationId xmlns:a16="http://schemas.microsoft.com/office/drawing/2014/main" id="{6FAE129F-AD4C-D4D2-D254-000E50D06449}"/>
              </a:ext>
            </a:extLst>
          </p:cNvPr>
          <p:cNvPicPr>
            <a:picLocks noChangeAspect="1"/>
          </p:cNvPicPr>
          <p:nvPr/>
        </p:nvPicPr>
        <p:blipFill>
          <a:blip r:embed="rId2"/>
          <a:stretch>
            <a:fillRect/>
          </a:stretch>
        </p:blipFill>
        <p:spPr>
          <a:xfrm>
            <a:off x="1811383" y="2325188"/>
            <a:ext cx="8029303" cy="3874905"/>
          </a:xfrm>
          <a:prstGeom prst="rect">
            <a:avLst/>
          </a:prstGeom>
        </p:spPr>
      </p:pic>
      <p:sp>
        <p:nvSpPr>
          <p:cNvPr id="5" name="TextBox 4">
            <a:extLst>
              <a:ext uri="{FF2B5EF4-FFF2-40B4-BE49-F238E27FC236}">
                <a16:creationId xmlns:a16="http://schemas.microsoft.com/office/drawing/2014/main" id="{45C9E93F-B1DC-EF2A-267E-A5B8277D16C5}"/>
              </a:ext>
            </a:extLst>
          </p:cNvPr>
          <p:cNvSpPr txBox="1"/>
          <p:nvPr/>
        </p:nvSpPr>
        <p:spPr>
          <a:xfrm>
            <a:off x="2342606" y="1724297"/>
            <a:ext cx="6775269" cy="461665"/>
          </a:xfrm>
          <a:prstGeom prst="rect">
            <a:avLst/>
          </a:prstGeom>
          <a:noFill/>
        </p:spPr>
        <p:txBody>
          <a:bodyPr wrap="square" rtlCol="0">
            <a:spAutoFit/>
          </a:bodyPr>
          <a:lstStyle/>
          <a:p>
            <a:pPr algn="ctr"/>
            <a:r>
              <a:rPr lang="en-IN" sz="2400" dirty="0">
                <a:solidFill>
                  <a:schemeClr val="bg2">
                    <a:lumMod val="50000"/>
                  </a:schemeClr>
                </a:solidFill>
                <a:latin typeface="Times New Roman" panose="02020603050405020304" pitchFamily="18" charset="0"/>
                <a:cs typeface="Times New Roman" panose="02020603050405020304" pitchFamily="18" charset="0"/>
              </a:rPr>
              <a:t>Select * from Reviews;</a:t>
            </a:r>
          </a:p>
        </p:txBody>
      </p:sp>
    </p:spTree>
    <p:extLst>
      <p:ext uri="{BB962C8B-B14F-4D97-AF65-F5344CB8AC3E}">
        <p14:creationId xmlns:p14="http://schemas.microsoft.com/office/powerpoint/2010/main" val="114496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4F72D0B-0371-7D4D-BB87-401CCF23A33B}"/>
              </a:ext>
            </a:extLst>
          </p:cNvPr>
          <p:cNvSpPr>
            <a:spLocks noGrp="1"/>
          </p:cNvSpPr>
          <p:nvPr>
            <p:ph type="title"/>
          </p:nvPr>
        </p:nvSpPr>
        <p:spPr>
          <a:xfrm>
            <a:off x="838200" y="365125"/>
            <a:ext cx="10515600" cy="827949"/>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CONTENT OF TABLE</a:t>
            </a:r>
          </a:p>
        </p:txBody>
      </p:sp>
      <p:pic>
        <p:nvPicPr>
          <p:cNvPr id="4" name="Picture 3">
            <a:extLst>
              <a:ext uri="{FF2B5EF4-FFF2-40B4-BE49-F238E27FC236}">
                <a16:creationId xmlns:a16="http://schemas.microsoft.com/office/drawing/2014/main" id="{E09530BD-16FD-CA26-ADA6-D376A0B5BAC7}"/>
              </a:ext>
            </a:extLst>
          </p:cNvPr>
          <p:cNvPicPr>
            <a:picLocks noChangeAspect="1"/>
          </p:cNvPicPr>
          <p:nvPr/>
        </p:nvPicPr>
        <p:blipFill>
          <a:blip r:embed="rId2"/>
          <a:stretch>
            <a:fillRect/>
          </a:stretch>
        </p:blipFill>
        <p:spPr>
          <a:xfrm>
            <a:off x="1994263" y="2516777"/>
            <a:ext cx="7585166" cy="3265713"/>
          </a:xfrm>
          <a:prstGeom prst="rect">
            <a:avLst/>
          </a:prstGeom>
        </p:spPr>
      </p:pic>
      <p:sp>
        <p:nvSpPr>
          <p:cNvPr id="5" name="TextBox 4">
            <a:extLst>
              <a:ext uri="{FF2B5EF4-FFF2-40B4-BE49-F238E27FC236}">
                <a16:creationId xmlns:a16="http://schemas.microsoft.com/office/drawing/2014/main" id="{0FA20BFE-B5FD-FF3D-2EE3-D9804598D88C}"/>
              </a:ext>
            </a:extLst>
          </p:cNvPr>
          <p:cNvSpPr txBox="1"/>
          <p:nvPr/>
        </p:nvSpPr>
        <p:spPr>
          <a:xfrm>
            <a:off x="1994263" y="1793966"/>
            <a:ext cx="7167154" cy="461665"/>
          </a:xfrm>
          <a:prstGeom prst="rect">
            <a:avLst/>
          </a:prstGeom>
          <a:noFill/>
        </p:spPr>
        <p:txBody>
          <a:bodyPr wrap="square" rtlCol="0">
            <a:spAutoFit/>
          </a:bodyPr>
          <a:lstStyle/>
          <a:p>
            <a:pPr algn="ctr"/>
            <a:r>
              <a:rPr lang="en-IN" sz="2400" dirty="0">
                <a:solidFill>
                  <a:srgbClr val="0070C0"/>
                </a:solidFill>
                <a:latin typeface="Times New Roman" panose="02020603050405020304" pitchFamily="18" charset="0"/>
                <a:cs typeface="Times New Roman" panose="02020603050405020304" pitchFamily="18" charset="0"/>
              </a:rPr>
              <a:t>Select * from Payments;</a:t>
            </a:r>
          </a:p>
        </p:txBody>
      </p:sp>
    </p:spTree>
    <p:extLst>
      <p:ext uri="{BB962C8B-B14F-4D97-AF65-F5344CB8AC3E}">
        <p14:creationId xmlns:p14="http://schemas.microsoft.com/office/powerpoint/2010/main" val="3893427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54F2F26-730F-1446-4691-8F9419DA2F2A}"/>
              </a:ext>
            </a:extLst>
          </p:cNvPr>
          <p:cNvSpPr>
            <a:spLocks noGrp="1"/>
          </p:cNvSpPr>
          <p:nvPr>
            <p:ph type="title"/>
          </p:nvPr>
        </p:nvSpPr>
        <p:spPr>
          <a:xfrm>
            <a:off x="838200" y="338998"/>
            <a:ext cx="10515600" cy="671195"/>
          </a:xfrm>
          <a:solidFill>
            <a:srgbClr val="FF0000"/>
          </a:solidFill>
        </p:spPr>
        <p:txBody>
          <a:bodyPr>
            <a:normAutofit fontScale="90000"/>
          </a:bodyPr>
          <a:lstStyle/>
          <a:p>
            <a:pPr algn="ctr"/>
            <a:r>
              <a:rPr lang="en-IN" dirty="0">
                <a:solidFill>
                  <a:schemeClr val="bg1"/>
                </a:solidFill>
                <a:latin typeface="Times New Roman" panose="02020603050405020304" pitchFamily="18" charset="0"/>
                <a:cs typeface="Times New Roman" panose="02020603050405020304" pitchFamily="18" charset="0"/>
              </a:rPr>
              <a:t>BASIC QUERIES</a:t>
            </a:r>
          </a:p>
        </p:txBody>
      </p:sp>
      <p:sp>
        <p:nvSpPr>
          <p:cNvPr id="4" name="TextBox 3">
            <a:extLst>
              <a:ext uri="{FF2B5EF4-FFF2-40B4-BE49-F238E27FC236}">
                <a16:creationId xmlns:a16="http://schemas.microsoft.com/office/drawing/2014/main" id="{EEC8DEB3-0161-8A0E-CB30-CCF951D8DFC7}"/>
              </a:ext>
            </a:extLst>
          </p:cNvPr>
          <p:cNvSpPr txBox="1"/>
          <p:nvPr/>
        </p:nvSpPr>
        <p:spPr>
          <a:xfrm>
            <a:off x="838200" y="1374168"/>
            <a:ext cx="450233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Display restaurant names and cuisines?</a:t>
            </a:r>
          </a:p>
        </p:txBody>
      </p:sp>
      <p:pic>
        <p:nvPicPr>
          <p:cNvPr id="7" name="Picture 6">
            <a:extLst>
              <a:ext uri="{FF2B5EF4-FFF2-40B4-BE49-F238E27FC236}">
                <a16:creationId xmlns:a16="http://schemas.microsoft.com/office/drawing/2014/main" id="{78FB7CB7-1A03-EB92-3647-FDF6C677F3A1}"/>
              </a:ext>
            </a:extLst>
          </p:cNvPr>
          <p:cNvPicPr>
            <a:picLocks noChangeAspect="1"/>
          </p:cNvPicPr>
          <p:nvPr/>
        </p:nvPicPr>
        <p:blipFill>
          <a:blip r:embed="rId2"/>
          <a:stretch>
            <a:fillRect/>
          </a:stretch>
        </p:blipFill>
        <p:spPr>
          <a:xfrm>
            <a:off x="576943" y="2778987"/>
            <a:ext cx="4362994" cy="2466975"/>
          </a:xfrm>
          <a:prstGeom prst="rect">
            <a:avLst/>
          </a:prstGeom>
        </p:spPr>
      </p:pic>
      <p:sp>
        <p:nvSpPr>
          <p:cNvPr id="8" name="TextBox 7">
            <a:extLst>
              <a:ext uri="{FF2B5EF4-FFF2-40B4-BE49-F238E27FC236}">
                <a16:creationId xmlns:a16="http://schemas.microsoft.com/office/drawing/2014/main" id="{99E9820F-3D00-81CE-5CF2-F57E707D23BC}"/>
              </a:ext>
            </a:extLst>
          </p:cNvPr>
          <p:cNvSpPr txBox="1"/>
          <p:nvPr/>
        </p:nvSpPr>
        <p:spPr>
          <a:xfrm>
            <a:off x="5913120" y="1374168"/>
            <a:ext cx="510322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Q. </a:t>
            </a:r>
            <a:r>
              <a:rPr lang="en-US" dirty="0">
                <a:latin typeface="Times New Roman" panose="02020603050405020304" pitchFamily="18" charset="0"/>
                <a:cs typeface="Times New Roman" panose="02020603050405020304" pitchFamily="18" charset="0"/>
              </a:rPr>
              <a:t>Display the list distinct locations of restaurants</a:t>
            </a:r>
            <a:r>
              <a:rPr lang="en-US" dirty="0"/>
              <a:t>.</a:t>
            </a:r>
            <a:endParaRPr lang="en-IN" dirty="0"/>
          </a:p>
        </p:txBody>
      </p:sp>
      <p:pic>
        <p:nvPicPr>
          <p:cNvPr id="9" name="Picture 8">
            <a:extLst>
              <a:ext uri="{FF2B5EF4-FFF2-40B4-BE49-F238E27FC236}">
                <a16:creationId xmlns:a16="http://schemas.microsoft.com/office/drawing/2014/main" id="{545E3C48-8780-7EC7-7F71-D4422A8EC4DE}"/>
              </a:ext>
            </a:extLst>
          </p:cNvPr>
          <p:cNvPicPr>
            <a:picLocks noChangeAspect="1"/>
          </p:cNvPicPr>
          <p:nvPr/>
        </p:nvPicPr>
        <p:blipFill>
          <a:blip r:embed="rId3"/>
          <a:stretch>
            <a:fillRect/>
          </a:stretch>
        </p:blipFill>
        <p:spPr>
          <a:xfrm>
            <a:off x="7380514" y="2718027"/>
            <a:ext cx="2899954" cy="1966776"/>
          </a:xfrm>
          <a:prstGeom prst="rect">
            <a:avLst/>
          </a:prstGeom>
        </p:spPr>
      </p:pic>
      <p:sp>
        <p:nvSpPr>
          <p:cNvPr id="5" name="TextBox 4">
            <a:extLst>
              <a:ext uri="{FF2B5EF4-FFF2-40B4-BE49-F238E27FC236}">
                <a16:creationId xmlns:a16="http://schemas.microsoft.com/office/drawing/2014/main" id="{4E156DD0-49BB-AE72-CCB5-2FE759045CDC}"/>
              </a:ext>
            </a:extLst>
          </p:cNvPr>
          <p:cNvSpPr txBox="1"/>
          <p:nvPr/>
        </p:nvSpPr>
        <p:spPr>
          <a:xfrm>
            <a:off x="740229" y="1922809"/>
            <a:ext cx="4199708" cy="646331"/>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Name, Cuisine FROM Restaurants</a:t>
            </a:r>
            <a:r>
              <a:rPr lang="en-IN" dirty="0">
                <a:solidFill>
                  <a:srgbClr val="0070C0"/>
                </a:solidFill>
              </a:rPr>
              <a:t>;</a:t>
            </a:r>
          </a:p>
        </p:txBody>
      </p:sp>
      <p:sp>
        <p:nvSpPr>
          <p:cNvPr id="10" name="TextBox 9">
            <a:extLst>
              <a:ext uri="{FF2B5EF4-FFF2-40B4-BE49-F238E27FC236}">
                <a16:creationId xmlns:a16="http://schemas.microsoft.com/office/drawing/2014/main" id="{5D12B71B-0FCF-B73C-274B-0A3ACC303B7B}"/>
              </a:ext>
            </a:extLst>
          </p:cNvPr>
          <p:cNvSpPr txBox="1"/>
          <p:nvPr/>
        </p:nvSpPr>
        <p:spPr>
          <a:xfrm>
            <a:off x="5974080" y="1922809"/>
            <a:ext cx="5199017" cy="369332"/>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DISTINCT Location FROM Restaurants;</a:t>
            </a:r>
          </a:p>
        </p:txBody>
      </p:sp>
    </p:spTree>
    <p:extLst>
      <p:ext uri="{BB962C8B-B14F-4D97-AF65-F5344CB8AC3E}">
        <p14:creationId xmlns:p14="http://schemas.microsoft.com/office/powerpoint/2010/main" val="227176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4B682F8-E87B-7EE5-76DF-687E3761B787}"/>
              </a:ext>
            </a:extLst>
          </p:cNvPr>
          <p:cNvSpPr>
            <a:spLocks noGrp="1"/>
          </p:cNvSpPr>
          <p:nvPr>
            <p:ph type="title"/>
          </p:nvPr>
        </p:nvSpPr>
        <p:spPr>
          <a:xfrm>
            <a:off x="574766" y="365126"/>
            <a:ext cx="10779034" cy="723446"/>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BASIC QUERIES</a:t>
            </a:r>
          </a:p>
        </p:txBody>
      </p:sp>
      <p:sp>
        <p:nvSpPr>
          <p:cNvPr id="4" name="TextBox 3">
            <a:extLst>
              <a:ext uri="{FF2B5EF4-FFF2-40B4-BE49-F238E27FC236}">
                <a16:creationId xmlns:a16="http://schemas.microsoft.com/office/drawing/2014/main" id="{565DD7F6-1C6A-D596-11D2-1AA08FA3DFE7}"/>
              </a:ext>
            </a:extLst>
          </p:cNvPr>
          <p:cNvSpPr txBox="1"/>
          <p:nvPr/>
        </p:nvSpPr>
        <p:spPr>
          <a:xfrm>
            <a:off x="574766" y="1402079"/>
            <a:ext cx="492905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Display orders by total amount (highest first).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18F9584-79AA-3357-979C-A2564072DA48}"/>
              </a:ext>
            </a:extLst>
          </p:cNvPr>
          <p:cNvPicPr>
            <a:picLocks noChangeAspect="1"/>
          </p:cNvPicPr>
          <p:nvPr/>
        </p:nvPicPr>
        <p:blipFill>
          <a:blip r:embed="rId2"/>
          <a:stretch>
            <a:fillRect/>
          </a:stretch>
        </p:blipFill>
        <p:spPr>
          <a:xfrm>
            <a:off x="426720" y="2798581"/>
            <a:ext cx="5225143" cy="2827156"/>
          </a:xfrm>
          <a:prstGeom prst="rect">
            <a:avLst/>
          </a:prstGeom>
        </p:spPr>
      </p:pic>
      <p:sp>
        <p:nvSpPr>
          <p:cNvPr id="6" name="TextBox 5">
            <a:extLst>
              <a:ext uri="{FF2B5EF4-FFF2-40B4-BE49-F238E27FC236}">
                <a16:creationId xmlns:a16="http://schemas.microsoft.com/office/drawing/2014/main" id="{5571C1EA-D544-0E7F-C5D3-7EDA4EDA9870}"/>
              </a:ext>
            </a:extLst>
          </p:cNvPr>
          <p:cNvSpPr txBox="1"/>
          <p:nvPr/>
        </p:nvSpPr>
        <p:spPr>
          <a:xfrm>
            <a:off x="6096000" y="1402079"/>
            <a:ext cx="522514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Display top 5 customers by ID.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9ABAC02-6D14-8AC4-5FCB-0DE8E888C89E}"/>
              </a:ext>
            </a:extLst>
          </p:cNvPr>
          <p:cNvPicPr>
            <a:picLocks noChangeAspect="1"/>
          </p:cNvPicPr>
          <p:nvPr/>
        </p:nvPicPr>
        <p:blipFill>
          <a:blip r:embed="rId3"/>
          <a:stretch>
            <a:fillRect/>
          </a:stretch>
        </p:blipFill>
        <p:spPr>
          <a:xfrm>
            <a:off x="6540139" y="2997245"/>
            <a:ext cx="4589416" cy="2201772"/>
          </a:xfrm>
          <a:prstGeom prst="rect">
            <a:avLst/>
          </a:prstGeom>
        </p:spPr>
      </p:pic>
      <p:sp>
        <p:nvSpPr>
          <p:cNvPr id="8" name="TextBox 7">
            <a:extLst>
              <a:ext uri="{FF2B5EF4-FFF2-40B4-BE49-F238E27FC236}">
                <a16:creationId xmlns:a16="http://schemas.microsoft.com/office/drawing/2014/main" id="{AF04BA74-894B-553E-AA95-AEE128B2B5BC}"/>
              </a:ext>
            </a:extLst>
          </p:cNvPr>
          <p:cNvSpPr txBox="1"/>
          <p:nvPr/>
        </p:nvSpPr>
        <p:spPr>
          <a:xfrm>
            <a:off x="426720" y="2014996"/>
            <a:ext cx="5425440" cy="646331"/>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 FROM Orders ORDER BY TotalAmount DESC;</a:t>
            </a:r>
          </a:p>
        </p:txBody>
      </p:sp>
      <p:sp>
        <p:nvSpPr>
          <p:cNvPr id="10" name="TextBox 9">
            <a:extLst>
              <a:ext uri="{FF2B5EF4-FFF2-40B4-BE49-F238E27FC236}">
                <a16:creationId xmlns:a16="http://schemas.microsoft.com/office/drawing/2014/main" id="{AAB4F304-ECD4-575F-5CD1-D02BD3E836EB}"/>
              </a:ext>
            </a:extLst>
          </p:cNvPr>
          <p:cNvSpPr txBox="1"/>
          <p:nvPr/>
        </p:nvSpPr>
        <p:spPr>
          <a:xfrm>
            <a:off x="6209212" y="2014996"/>
            <a:ext cx="4920343" cy="369332"/>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 FROM Customers LIMIT 5;</a:t>
            </a:r>
          </a:p>
        </p:txBody>
      </p:sp>
    </p:spTree>
    <p:extLst>
      <p:ext uri="{BB962C8B-B14F-4D97-AF65-F5344CB8AC3E}">
        <p14:creationId xmlns:p14="http://schemas.microsoft.com/office/powerpoint/2010/main" val="1414736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F72D5C1-A551-24E5-02A8-76C3C4B3E27B}"/>
              </a:ext>
            </a:extLst>
          </p:cNvPr>
          <p:cNvSpPr>
            <a:spLocks noGrp="1"/>
          </p:cNvSpPr>
          <p:nvPr>
            <p:ph type="title"/>
          </p:nvPr>
        </p:nvSpPr>
        <p:spPr>
          <a:xfrm>
            <a:off x="838200" y="365125"/>
            <a:ext cx="10515600" cy="706029"/>
          </a:xfrm>
          <a:solidFill>
            <a:srgbClr val="FF0000"/>
          </a:solidFill>
        </p:spPr>
        <p:txBody>
          <a:bodyPr>
            <a:normAutofit fontScale="90000"/>
          </a:bodyPr>
          <a:lstStyle/>
          <a:p>
            <a:pPr algn="ctr"/>
            <a:r>
              <a:rPr lang="en-IN" dirty="0">
                <a:solidFill>
                  <a:schemeClr val="bg1"/>
                </a:solidFill>
                <a:latin typeface="Times New Roman" panose="02020603050405020304" pitchFamily="18" charset="0"/>
                <a:cs typeface="Times New Roman" panose="02020603050405020304" pitchFamily="18" charset="0"/>
              </a:rPr>
              <a:t>FILTERING </a:t>
            </a:r>
          </a:p>
        </p:txBody>
      </p:sp>
      <p:sp>
        <p:nvSpPr>
          <p:cNvPr id="4" name="TextBox 3">
            <a:extLst>
              <a:ext uri="{FF2B5EF4-FFF2-40B4-BE49-F238E27FC236}">
                <a16:creationId xmlns:a16="http://schemas.microsoft.com/office/drawing/2014/main" id="{7424FC23-6374-2750-DA0B-DD1912192384}"/>
              </a:ext>
            </a:extLst>
          </p:cNvPr>
          <p:cNvSpPr txBox="1"/>
          <p:nvPr/>
        </p:nvSpPr>
        <p:spPr>
          <a:xfrm>
            <a:off x="583474" y="1370596"/>
            <a:ext cx="4902926"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Show Orders from customer with ID = 1?</a:t>
            </a:r>
          </a:p>
        </p:txBody>
      </p:sp>
      <p:pic>
        <p:nvPicPr>
          <p:cNvPr id="5" name="Picture 4">
            <a:extLst>
              <a:ext uri="{FF2B5EF4-FFF2-40B4-BE49-F238E27FC236}">
                <a16:creationId xmlns:a16="http://schemas.microsoft.com/office/drawing/2014/main" id="{44DB2D7F-7298-08B5-17CF-A8F22E52E887}"/>
              </a:ext>
            </a:extLst>
          </p:cNvPr>
          <p:cNvPicPr>
            <a:picLocks noChangeAspect="1"/>
          </p:cNvPicPr>
          <p:nvPr/>
        </p:nvPicPr>
        <p:blipFill>
          <a:blip r:embed="rId2"/>
          <a:stretch>
            <a:fillRect/>
          </a:stretch>
        </p:blipFill>
        <p:spPr>
          <a:xfrm>
            <a:off x="498565" y="3248297"/>
            <a:ext cx="4691743" cy="1436915"/>
          </a:xfrm>
          <a:prstGeom prst="rect">
            <a:avLst/>
          </a:prstGeom>
        </p:spPr>
      </p:pic>
      <p:sp>
        <p:nvSpPr>
          <p:cNvPr id="6" name="TextBox 5">
            <a:extLst>
              <a:ext uri="{FF2B5EF4-FFF2-40B4-BE49-F238E27FC236}">
                <a16:creationId xmlns:a16="http://schemas.microsoft.com/office/drawing/2014/main" id="{BEA796C1-BC07-36A9-CA93-BCDB16CFEE04}"/>
              </a:ext>
            </a:extLst>
          </p:cNvPr>
          <p:cNvSpPr txBox="1"/>
          <p:nvPr/>
        </p:nvSpPr>
        <p:spPr>
          <a:xfrm>
            <a:off x="6450874" y="1370596"/>
            <a:ext cx="490292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Q. Show Orders between two dates</a:t>
            </a:r>
          </a:p>
        </p:txBody>
      </p:sp>
      <p:pic>
        <p:nvPicPr>
          <p:cNvPr id="7" name="Picture 6">
            <a:extLst>
              <a:ext uri="{FF2B5EF4-FFF2-40B4-BE49-F238E27FC236}">
                <a16:creationId xmlns:a16="http://schemas.microsoft.com/office/drawing/2014/main" id="{80DEB546-A378-2021-160D-C87A340B153D}"/>
              </a:ext>
            </a:extLst>
          </p:cNvPr>
          <p:cNvPicPr>
            <a:picLocks noChangeAspect="1"/>
          </p:cNvPicPr>
          <p:nvPr/>
        </p:nvPicPr>
        <p:blipFill>
          <a:blip r:embed="rId3"/>
          <a:stretch>
            <a:fillRect/>
          </a:stretch>
        </p:blipFill>
        <p:spPr>
          <a:xfrm>
            <a:off x="5976257" y="2882537"/>
            <a:ext cx="5612674" cy="2978332"/>
          </a:xfrm>
          <a:prstGeom prst="rect">
            <a:avLst/>
          </a:prstGeom>
        </p:spPr>
      </p:pic>
      <p:sp>
        <p:nvSpPr>
          <p:cNvPr id="8" name="TextBox 7">
            <a:extLst>
              <a:ext uri="{FF2B5EF4-FFF2-40B4-BE49-F238E27FC236}">
                <a16:creationId xmlns:a16="http://schemas.microsoft.com/office/drawing/2014/main" id="{9F042FD6-71D1-83ED-6E94-49F0043477A6}"/>
              </a:ext>
            </a:extLst>
          </p:cNvPr>
          <p:cNvSpPr txBox="1"/>
          <p:nvPr/>
        </p:nvSpPr>
        <p:spPr>
          <a:xfrm>
            <a:off x="426720" y="1854704"/>
            <a:ext cx="5059680" cy="369332"/>
          </a:xfrm>
          <a:prstGeom prst="rect">
            <a:avLst/>
          </a:prstGeom>
          <a:noFill/>
        </p:spPr>
        <p:txBody>
          <a:bodyPr wrap="square">
            <a:spAutoFit/>
          </a:bodyPr>
          <a:lstStyle/>
          <a:p>
            <a:r>
              <a:rPr lang="en-US" dirty="0">
                <a:solidFill>
                  <a:srgbClr val="0070C0"/>
                </a:solidFill>
                <a:latin typeface="Times New Roman" panose="02020603050405020304" pitchFamily="18" charset="0"/>
                <a:cs typeface="Times New Roman" panose="02020603050405020304" pitchFamily="18" charset="0"/>
              </a:rPr>
              <a:t>SELECT * FROM Orders WHERE CustomerID = 1;</a:t>
            </a:r>
            <a:endParaRPr lang="en-IN" dirty="0">
              <a:solidFill>
                <a:srgbClr val="0070C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78CE368-DEB6-83C6-D3DD-DD22CC70781E}"/>
              </a:ext>
            </a:extLst>
          </p:cNvPr>
          <p:cNvSpPr txBox="1"/>
          <p:nvPr/>
        </p:nvSpPr>
        <p:spPr>
          <a:xfrm>
            <a:off x="5854337" y="1890597"/>
            <a:ext cx="6096000" cy="646331"/>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 FROM Orders WHERE OrderDate BETWEEN '2023-09-10' AND '2023-09-20';</a:t>
            </a:r>
          </a:p>
        </p:txBody>
      </p:sp>
    </p:spTree>
    <p:extLst>
      <p:ext uri="{BB962C8B-B14F-4D97-AF65-F5344CB8AC3E}">
        <p14:creationId xmlns:p14="http://schemas.microsoft.com/office/powerpoint/2010/main" val="783669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B552540-8A8B-83D7-A5AB-1733E9C36DE7}"/>
              </a:ext>
            </a:extLst>
          </p:cNvPr>
          <p:cNvSpPr>
            <a:spLocks noGrp="1"/>
          </p:cNvSpPr>
          <p:nvPr>
            <p:ph type="title"/>
          </p:nvPr>
        </p:nvSpPr>
        <p:spPr>
          <a:xfrm>
            <a:off x="838200" y="365126"/>
            <a:ext cx="10515600" cy="836658"/>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FILTERING </a:t>
            </a:r>
          </a:p>
        </p:txBody>
      </p:sp>
      <p:sp>
        <p:nvSpPr>
          <p:cNvPr id="5" name="TextBox 4">
            <a:extLst>
              <a:ext uri="{FF2B5EF4-FFF2-40B4-BE49-F238E27FC236}">
                <a16:creationId xmlns:a16="http://schemas.microsoft.com/office/drawing/2014/main" id="{BECEE951-9291-2B88-564E-3D109325719F}"/>
              </a:ext>
            </a:extLst>
          </p:cNvPr>
          <p:cNvSpPr txBox="1"/>
          <p:nvPr/>
        </p:nvSpPr>
        <p:spPr>
          <a:xfrm>
            <a:off x="705395" y="1377622"/>
            <a:ext cx="5068388" cy="369332"/>
          </a:xfrm>
          <a:prstGeom prst="rect">
            <a:avLst/>
          </a:prstGeom>
          <a:noFill/>
        </p:spPr>
        <p:txBody>
          <a:bodyPr wrap="square">
            <a:spAutoFit/>
          </a:bodyPr>
          <a:lstStyle/>
          <a:p>
            <a:r>
              <a:rPr lang="en-IN" dirty="0"/>
              <a:t>Q. </a:t>
            </a:r>
            <a:r>
              <a:rPr lang="en-IN" dirty="0">
                <a:latin typeface="Times New Roman" panose="02020603050405020304" pitchFamily="18" charset="0"/>
                <a:cs typeface="Times New Roman" panose="02020603050405020304" pitchFamily="18" charset="0"/>
              </a:rPr>
              <a:t>Display Customers from specific addresses</a:t>
            </a:r>
          </a:p>
        </p:txBody>
      </p:sp>
      <p:pic>
        <p:nvPicPr>
          <p:cNvPr id="7" name="Picture 6">
            <a:extLst>
              <a:ext uri="{FF2B5EF4-FFF2-40B4-BE49-F238E27FC236}">
                <a16:creationId xmlns:a16="http://schemas.microsoft.com/office/drawing/2014/main" id="{9BF71993-C255-B813-990C-2871CB73507B}"/>
              </a:ext>
            </a:extLst>
          </p:cNvPr>
          <p:cNvPicPr>
            <a:picLocks noChangeAspect="1"/>
          </p:cNvPicPr>
          <p:nvPr/>
        </p:nvPicPr>
        <p:blipFill>
          <a:blip r:embed="rId2"/>
          <a:stretch>
            <a:fillRect/>
          </a:stretch>
        </p:blipFill>
        <p:spPr>
          <a:xfrm>
            <a:off x="592183" y="3028406"/>
            <a:ext cx="5181600" cy="1812064"/>
          </a:xfrm>
          <a:prstGeom prst="rect">
            <a:avLst/>
          </a:prstGeom>
        </p:spPr>
      </p:pic>
      <p:sp>
        <p:nvSpPr>
          <p:cNvPr id="9" name="TextBox 8">
            <a:extLst>
              <a:ext uri="{FF2B5EF4-FFF2-40B4-BE49-F238E27FC236}">
                <a16:creationId xmlns:a16="http://schemas.microsoft.com/office/drawing/2014/main" id="{15F59D82-0198-3210-85C5-6CF25CC3D317}"/>
              </a:ext>
            </a:extLst>
          </p:cNvPr>
          <p:cNvSpPr txBox="1"/>
          <p:nvPr/>
        </p:nvSpPr>
        <p:spPr>
          <a:xfrm>
            <a:off x="6006737" y="1377622"/>
            <a:ext cx="5347063"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Display Restaurants whose name contains 'Hub'</a:t>
            </a:r>
          </a:p>
        </p:txBody>
      </p:sp>
      <p:pic>
        <p:nvPicPr>
          <p:cNvPr id="10" name="Picture 9">
            <a:extLst>
              <a:ext uri="{FF2B5EF4-FFF2-40B4-BE49-F238E27FC236}">
                <a16:creationId xmlns:a16="http://schemas.microsoft.com/office/drawing/2014/main" id="{F1DD0606-1A57-1049-29C5-363E751FC575}"/>
              </a:ext>
            </a:extLst>
          </p:cNvPr>
          <p:cNvPicPr>
            <a:picLocks noChangeAspect="1"/>
          </p:cNvPicPr>
          <p:nvPr/>
        </p:nvPicPr>
        <p:blipFill>
          <a:blip r:embed="rId3"/>
          <a:stretch>
            <a:fillRect/>
          </a:stretch>
        </p:blipFill>
        <p:spPr>
          <a:xfrm>
            <a:off x="6218192" y="3028406"/>
            <a:ext cx="5381625" cy="1228725"/>
          </a:xfrm>
          <a:prstGeom prst="rect">
            <a:avLst/>
          </a:prstGeom>
        </p:spPr>
      </p:pic>
      <p:sp>
        <p:nvSpPr>
          <p:cNvPr id="4" name="TextBox 3">
            <a:extLst>
              <a:ext uri="{FF2B5EF4-FFF2-40B4-BE49-F238E27FC236}">
                <a16:creationId xmlns:a16="http://schemas.microsoft.com/office/drawing/2014/main" id="{9C5B89B7-C78B-2651-6F26-0D09DD7472EB}"/>
              </a:ext>
            </a:extLst>
          </p:cNvPr>
          <p:cNvSpPr txBox="1"/>
          <p:nvPr/>
        </p:nvSpPr>
        <p:spPr>
          <a:xfrm>
            <a:off x="539931" y="1896130"/>
            <a:ext cx="4528458" cy="923330"/>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 FROM Customers WHERE Address IN ('MG Road, City', 'Park Street, City');</a:t>
            </a:r>
          </a:p>
        </p:txBody>
      </p:sp>
      <p:sp>
        <p:nvSpPr>
          <p:cNvPr id="8" name="TextBox 7">
            <a:extLst>
              <a:ext uri="{FF2B5EF4-FFF2-40B4-BE49-F238E27FC236}">
                <a16:creationId xmlns:a16="http://schemas.microsoft.com/office/drawing/2014/main" id="{B31EF63B-91E1-5AEB-B303-739A65C0DB52}"/>
              </a:ext>
            </a:extLst>
          </p:cNvPr>
          <p:cNvSpPr txBox="1"/>
          <p:nvPr/>
        </p:nvSpPr>
        <p:spPr>
          <a:xfrm>
            <a:off x="5773783" y="2018348"/>
            <a:ext cx="6096000" cy="369332"/>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 FROM Restaurants WHERE Name LIKE '%Hub%';</a:t>
            </a:r>
          </a:p>
        </p:txBody>
      </p:sp>
    </p:spTree>
    <p:extLst>
      <p:ext uri="{BB962C8B-B14F-4D97-AF65-F5344CB8AC3E}">
        <p14:creationId xmlns:p14="http://schemas.microsoft.com/office/powerpoint/2010/main" val="113152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39CF987-5FD7-CFCB-DC12-04BC331BAC4C}"/>
              </a:ext>
            </a:extLst>
          </p:cNvPr>
          <p:cNvSpPr>
            <a:spLocks noGrp="1"/>
          </p:cNvSpPr>
          <p:nvPr>
            <p:ph type="title"/>
          </p:nvPr>
        </p:nvSpPr>
        <p:spPr>
          <a:xfrm>
            <a:off x="838200" y="365125"/>
            <a:ext cx="10515600" cy="697321"/>
          </a:xfrm>
          <a:solidFill>
            <a:srgbClr val="FF0000"/>
          </a:solidFill>
        </p:spPr>
        <p:txBody>
          <a:bodyPr>
            <a:normAutofit fontScale="90000"/>
          </a:bodyPr>
          <a:lstStyle/>
          <a:p>
            <a:pPr algn="ctr"/>
            <a:r>
              <a:rPr lang="en-IN" dirty="0">
                <a:solidFill>
                  <a:schemeClr val="bg1"/>
                </a:solidFill>
                <a:latin typeface="Times New Roman" panose="02020603050405020304" pitchFamily="18" charset="0"/>
                <a:cs typeface="Times New Roman" panose="02020603050405020304" pitchFamily="18" charset="0"/>
              </a:rPr>
              <a:t>FILTERING </a:t>
            </a:r>
          </a:p>
        </p:txBody>
      </p:sp>
      <p:sp>
        <p:nvSpPr>
          <p:cNvPr id="7" name="TextBox 6">
            <a:extLst>
              <a:ext uri="{FF2B5EF4-FFF2-40B4-BE49-F238E27FC236}">
                <a16:creationId xmlns:a16="http://schemas.microsoft.com/office/drawing/2014/main" id="{FCC3A7F1-8E96-8FF8-3132-89DC15B40BEF}"/>
              </a:ext>
            </a:extLst>
          </p:cNvPr>
          <p:cNvSpPr txBox="1"/>
          <p:nvPr/>
        </p:nvSpPr>
        <p:spPr>
          <a:xfrm>
            <a:off x="838200" y="1333562"/>
            <a:ext cx="471133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Q. Show payments where Amount is missing?</a:t>
            </a:r>
          </a:p>
        </p:txBody>
      </p:sp>
      <p:pic>
        <p:nvPicPr>
          <p:cNvPr id="9" name="Picture 8">
            <a:extLst>
              <a:ext uri="{FF2B5EF4-FFF2-40B4-BE49-F238E27FC236}">
                <a16:creationId xmlns:a16="http://schemas.microsoft.com/office/drawing/2014/main" id="{5D5A07E4-5AA7-D2BA-4761-64D3E4523C19}"/>
              </a:ext>
            </a:extLst>
          </p:cNvPr>
          <p:cNvPicPr>
            <a:picLocks noChangeAspect="1"/>
          </p:cNvPicPr>
          <p:nvPr/>
        </p:nvPicPr>
        <p:blipFill>
          <a:blip r:embed="rId2"/>
          <a:stretch>
            <a:fillRect/>
          </a:stretch>
        </p:blipFill>
        <p:spPr>
          <a:xfrm>
            <a:off x="838200" y="2776477"/>
            <a:ext cx="5818707" cy="1087951"/>
          </a:xfrm>
          <a:prstGeom prst="rect">
            <a:avLst/>
          </a:prstGeom>
        </p:spPr>
      </p:pic>
      <p:sp>
        <p:nvSpPr>
          <p:cNvPr id="3" name="TextBox 2">
            <a:extLst>
              <a:ext uri="{FF2B5EF4-FFF2-40B4-BE49-F238E27FC236}">
                <a16:creationId xmlns:a16="http://schemas.microsoft.com/office/drawing/2014/main" id="{156C3F09-D31F-E9C7-4CA1-27A134F732AB}"/>
              </a:ext>
            </a:extLst>
          </p:cNvPr>
          <p:cNvSpPr txBox="1"/>
          <p:nvPr/>
        </p:nvSpPr>
        <p:spPr>
          <a:xfrm>
            <a:off x="838200" y="2055019"/>
            <a:ext cx="6096000" cy="369332"/>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 FROM Payments WHERE Amount IS NULL;</a:t>
            </a:r>
          </a:p>
        </p:txBody>
      </p:sp>
    </p:spTree>
    <p:extLst>
      <p:ext uri="{BB962C8B-B14F-4D97-AF65-F5344CB8AC3E}">
        <p14:creationId xmlns:p14="http://schemas.microsoft.com/office/powerpoint/2010/main" val="4239228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A18833-3BE6-2317-EB74-3B15F62D98FF}"/>
              </a:ext>
            </a:extLst>
          </p:cNvPr>
          <p:cNvSpPr txBox="1"/>
          <p:nvPr/>
        </p:nvSpPr>
        <p:spPr>
          <a:xfrm>
            <a:off x="838200" y="1149534"/>
            <a:ext cx="5057503"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Show Orders with customer and restaurant names (INNER JOIN)?</a:t>
            </a:r>
            <a:endParaRPr lang="en-IN"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8EA3B6F5-F96E-CB74-8DC2-FAB1AE004F6F}"/>
              </a:ext>
            </a:extLst>
          </p:cNvPr>
          <p:cNvSpPr>
            <a:spLocks noGrp="1"/>
          </p:cNvSpPr>
          <p:nvPr>
            <p:ph type="title"/>
          </p:nvPr>
        </p:nvSpPr>
        <p:spPr>
          <a:xfrm>
            <a:off x="838200" y="365126"/>
            <a:ext cx="10515600" cy="646332"/>
          </a:xfrm>
          <a:solidFill>
            <a:srgbClr val="FF0000"/>
          </a:solidFill>
        </p:spPr>
        <p:txBody>
          <a:bodyPr>
            <a:normAutofit fontScale="90000"/>
          </a:bodyPr>
          <a:lstStyle/>
          <a:p>
            <a:pPr algn="ctr"/>
            <a:r>
              <a:rPr lang="en-IN" dirty="0">
                <a:solidFill>
                  <a:schemeClr val="bg1"/>
                </a:solidFill>
                <a:latin typeface="Times New Roman" panose="02020603050405020304" pitchFamily="18" charset="0"/>
                <a:cs typeface="Times New Roman" panose="02020603050405020304" pitchFamily="18" charset="0"/>
              </a:rPr>
              <a:t>JOINS </a:t>
            </a:r>
          </a:p>
        </p:txBody>
      </p:sp>
      <p:pic>
        <p:nvPicPr>
          <p:cNvPr id="9" name="Picture 8">
            <a:extLst>
              <a:ext uri="{FF2B5EF4-FFF2-40B4-BE49-F238E27FC236}">
                <a16:creationId xmlns:a16="http://schemas.microsoft.com/office/drawing/2014/main" id="{7D9DD73D-62C6-5EE3-0FE3-A9E6037370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1" y="3333358"/>
            <a:ext cx="4334480" cy="2819794"/>
          </a:xfrm>
          <a:prstGeom prst="rect">
            <a:avLst/>
          </a:prstGeom>
        </p:spPr>
      </p:pic>
      <p:sp>
        <p:nvSpPr>
          <p:cNvPr id="10" name="TextBox 9">
            <a:extLst>
              <a:ext uri="{FF2B5EF4-FFF2-40B4-BE49-F238E27FC236}">
                <a16:creationId xmlns:a16="http://schemas.microsoft.com/office/drawing/2014/main" id="{A8257FF1-B8D0-B934-20CC-545CFEBC2E9F}"/>
              </a:ext>
            </a:extLst>
          </p:cNvPr>
          <p:cNvSpPr txBox="1"/>
          <p:nvPr/>
        </p:nvSpPr>
        <p:spPr>
          <a:xfrm>
            <a:off x="6096000" y="1149532"/>
            <a:ext cx="525780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Show All customers even if no orders </a:t>
            </a:r>
          </a:p>
          <a:p>
            <a:r>
              <a:rPr lang="en-US" dirty="0">
                <a:latin typeface="Times New Roman" panose="02020603050405020304" pitchFamily="18" charset="0"/>
                <a:cs typeface="Times New Roman" panose="02020603050405020304" pitchFamily="18" charset="0"/>
              </a:rPr>
              <a:t>(LEFT JOIN)?</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742F454-E917-730B-D2BC-B0A511148296}"/>
              </a:ext>
            </a:extLst>
          </p:cNvPr>
          <p:cNvPicPr>
            <a:picLocks noChangeAspect="1"/>
          </p:cNvPicPr>
          <p:nvPr/>
        </p:nvPicPr>
        <p:blipFill>
          <a:blip r:embed="rId3"/>
          <a:stretch>
            <a:fillRect/>
          </a:stretch>
        </p:blipFill>
        <p:spPr>
          <a:xfrm>
            <a:off x="6411004" y="3205297"/>
            <a:ext cx="3751899" cy="2762250"/>
          </a:xfrm>
          <a:prstGeom prst="rect">
            <a:avLst/>
          </a:prstGeom>
        </p:spPr>
      </p:pic>
      <p:sp>
        <p:nvSpPr>
          <p:cNvPr id="4" name="TextBox 3">
            <a:extLst>
              <a:ext uri="{FF2B5EF4-FFF2-40B4-BE49-F238E27FC236}">
                <a16:creationId xmlns:a16="http://schemas.microsoft.com/office/drawing/2014/main" id="{DCE98312-D7BF-72F4-B3C0-BD0B4D36E774}"/>
              </a:ext>
            </a:extLst>
          </p:cNvPr>
          <p:cNvSpPr txBox="1"/>
          <p:nvPr/>
        </p:nvSpPr>
        <p:spPr>
          <a:xfrm>
            <a:off x="539932" y="1825947"/>
            <a:ext cx="5434150" cy="1477328"/>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o.OrderID, c.Name AS CustomerName, r.Name AS RestaurantName, o.TotalAmountFROM Orders oINNER JOIN Customers c ON o.CustomerID = c.CustomerIDINNER JOIN Restaurants r ON o.RestaurantID = r.RestaurantID;</a:t>
            </a:r>
          </a:p>
        </p:txBody>
      </p:sp>
      <p:sp>
        <p:nvSpPr>
          <p:cNvPr id="6" name="TextBox 5">
            <a:extLst>
              <a:ext uri="{FF2B5EF4-FFF2-40B4-BE49-F238E27FC236}">
                <a16:creationId xmlns:a16="http://schemas.microsoft.com/office/drawing/2014/main" id="{A1E92443-E53E-CFC3-E19D-645CEE47A204}"/>
              </a:ext>
            </a:extLst>
          </p:cNvPr>
          <p:cNvSpPr txBox="1"/>
          <p:nvPr/>
        </p:nvSpPr>
        <p:spPr>
          <a:xfrm>
            <a:off x="6217920" y="1933937"/>
            <a:ext cx="5257800" cy="923330"/>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c.CustomerID, c.Name AS CustomerName, o.OrderIDFROM Customers cLEFT JOIN Orders o ON c.CustomerID = o.CustomerID;</a:t>
            </a:r>
          </a:p>
        </p:txBody>
      </p:sp>
    </p:spTree>
    <p:extLst>
      <p:ext uri="{BB962C8B-B14F-4D97-AF65-F5344CB8AC3E}">
        <p14:creationId xmlns:p14="http://schemas.microsoft.com/office/powerpoint/2010/main" val="1186701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A0589B-A571-E814-6BD3-358320E225DE}"/>
              </a:ext>
            </a:extLst>
          </p:cNvPr>
          <p:cNvSpPr>
            <a:spLocks noGrp="1"/>
          </p:cNvSpPr>
          <p:nvPr>
            <p:ph type="title"/>
          </p:nvPr>
        </p:nvSpPr>
        <p:spPr>
          <a:xfrm>
            <a:off x="838200" y="365126"/>
            <a:ext cx="10515600" cy="679904"/>
          </a:xfrm>
          <a:solidFill>
            <a:srgbClr val="FF0000"/>
          </a:solidFill>
        </p:spPr>
        <p:txBody>
          <a:bodyPr>
            <a:normAutofit fontScale="90000"/>
          </a:bodyPr>
          <a:lstStyle/>
          <a:p>
            <a:pPr algn="ctr"/>
            <a:r>
              <a:rPr lang="en-IN" dirty="0">
                <a:solidFill>
                  <a:schemeClr val="bg1"/>
                </a:solidFill>
                <a:latin typeface="Times New Roman" panose="02020603050405020304" pitchFamily="18" charset="0"/>
                <a:cs typeface="Times New Roman" panose="02020603050405020304" pitchFamily="18" charset="0"/>
              </a:rPr>
              <a:t>JOINS </a:t>
            </a:r>
          </a:p>
        </p:txBody>
      </p:sp>
      <p:sp>
        <p:nvSpPr>
          <p:cNvPr id="4" name="TextBox 3">
            <a:extLst>
              <a:ext uri="{FF2B5EF4-FFF2-40B4-BE49-F238E27FC236}">
                <a16:creationId xmlns:a16="http://schemas.microsoft.com/office/drawing/2014/main" id="{8A0A5594-C17D-7FC2-08CD-0D6B633EE5A0}"/>
              </a:ext>
            </a:extLst>
          </p:cNvPr>
          <p:cNvSpPr txBox="1"/>
          <p:nvPr/>
        </p:nvSpPr>
        <p:spPr>
          <a:xfrm>
            <a:off x="6459855" y="1132113"/>
            <a:ext cx="4859383"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Q. </a:t>
            </a:r>
            <a:r>
              <a:rPr lang="en-US" dirty="0">
                <a:latin typeface="Times New Roman" panose="02020603050405020304" pitchFamily="18" charset="0"/>
                <a:cs typeface="Times New Roman" panose="02020603050405020304" pitchFamily="18" charset="0"/>
              </a:rPr>
              <a:t>Find Customers where the first 3 letter of their address match another customer's address?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983C1E7-876E-2378-0681-C421DCB7ADD9}"/>
              </a:ext>
            </a:extLst>
          </p:cNvPr>
          <p:cNvSpPr txBox="1"/>
          <p:nvPr/>
        </p:nvSpPr>
        <p:spPr>
          <a:xfrm>
            <a:off x="731520" y="1132114"/>
            <a:ext cx="5233852"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Show All orders even if customer info is missing (RIGHT JOIN)?</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D813F0C-5C58-A054-51CF-BFC5A0643D64}"/>
              </a:ext>
            </a:extLst>
          </p:cNvPr>
          <p:cNvPicPr>
            <a:picLocks noChangeAspect="1"/>
          </p:cNvPicPr>
          <p:nvPr/>
        </p:nvPicPr>
        <p:blipFill>
          <a:blip r:embed="rId2"/>
          <a:stretch>
            <a:fillRect/>
          </a:stretch>
        </p:blipFill>
        <p:spPr>
          <a:xfrm>
            <a:off x="838200" y="3187307"/>
            <a:ext cx="3114675" cy="2686050"/>
          </a:xfrm>
          <a:prstGeom prst="rect">
            <a:avLst/>
          </a:prstGeom>
        </p:spPr>
      </p:pic>
      <p:pic>
        <p:nvPicPr>
          <p:cNvPr id="8" name="Picture 7">
            <a:extLst>
              <a:ext uri="{FF2B5EF4-FFF2-40B4-BE49-F238E27FC236}">
                <a16:creationId xmlns:a16="http://schemas.microsoft.com/office/drawing/2014/main" id="{4F832BE4-1C1A-0366-3E59-18CB99DE5384}"/>
              </a:ext>
            </a:extLst>
          </p:cNvPr>
          <p:cNvPicPr>
            <a:picLocks noChangeAspect="1"/>
          </p:cNvPicPr>
          <p:nvPr/>
        </p:nvPicPr>
        <p:blipFill>
          <a:blip r:embed="rId3"/>
          <a:stretch>
            <a:fillRect/>
          </a:stretch>
        </p:blipFill>
        <p:spPr>
          <a:xfrm>
            <a:off x="6616881" y="3429000"/>
            <a:ext cx="3448050" cy="1476375"/>
          </a:xfrm>
          <a:prstGeom prst="rect">
            <a:avLst/>
          </a:prstGeom>
        </p:spPr>
      </p:pic>
      <p:sp>
        <p:nvSpPr>
          <p:cNvPr id="5" name="TextBox 4">
            <a:extLst>
              <a:ext uri="{FF2B5EF4-FFF2-40B4-BE49-F238E27FC236}">
                <a16:creationId xmlns:a16="http://schemas.microsoft.com/office/drawing/2014/main" id="{86F2B12D-79CA-F315-6F5A-98807B45D6CB}"/>
              </a:ext>
            </a:extLst>
          </p:cNvPr>
          <p:cNvSpPr txBox="1"/>
          <p:nvPr/>
        </p:nvSpPr>
        <p:spPr>
          <a:xfrm>
            <a:off x="731520" y="1865527"/>
            <a:ext cx="5103223" cy="923330"/>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c.Name AS CustomerName, o.OrderID, o.TotalAmountFROM Customers cRIGHT JOIN Orders o ON c.CustomerID = o.CustomerID;</a:t>
            </a:r>
          </a:p>
        </p:txBody>
      </p:sp>
      <p:sp>
        <p:nvSpPr>
          <p:cNvPr id="10" name="TextBox 9">
            <a:extLst>
              <a:ext uri="{FF2B5EF4-FFF2-40B4-BE49-F238E27FC236}">
                <a16:creationId xmlns:a16="http://schemas.microsoft.com/office/drawing/2014/main" id="{F511C3BE-DCDB-8D72-66A0-CB5DFC208F58}"/>
              </a:ext>
            </a:extLst>
          </p:cNvPr>
          <p:cNvSpPr txBox="1"/>
          <p:nvPr/>
        </p:nvSpPr>
        <p:spPr>
          <a:xfrm>
            <a:off x="6235337" y="1865527"/>
            <a:ext cx="5956663" cy="1200329"/>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c1.Name AS Customer1, c2.name As Customers2, left(c1.Address,3) As AddressstartFrom Customers c1Inner join customers c2 on left(c1. Address,3) = left(c2. Address,3) Where c1.CustomerID!= c2.customerID;</a:t>
            </a:r>
          </a:p>
        </p:txBody>
      </p:sp>
    </p:spTree>
    <p:extLst>
      <p:ext uri="{BB962C8B-B14F-4D97-AF65-F5344CB8AC3E}">
        <p14:creationId xmlns:p14="http://schemas.microsoft.com/office/powerpoint/2010/main" val="3104485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C17DDEF-4854-A11D-E9F1-F4ADB103799C}"/>
              </a:ext>
            </a:extLst>
          </p:cNvPr>
          <p:cNvSpPr>
            <a:spLocks noGrp="1"/>
          </p:cNvSpPr>
          <p:nvPr>
            <p:ph type="title"/>
          </p:nvPr>
        </p:nvSpPr>
        <p:spPr>
          <a:xfrm>
            <a:off x="838200" y="365125"/>
            <a:ext cx="10515600" cy="819241"/>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AGGREGATIONS</a:t>
            </a:r>
          </a:p>
        </p:txBody>
      </p:sp>
      <p:sp>
        <p:nvSpPr>
          <p:cNvPr id="4" name="TextBox 3">
            <a:extLst>
              <a:ext uri="{FF2B5EF4-FFF2-40B4-BE49-F238E27FC236}">
                <a16:creationId xmlns:a16="http://schemas.microsoft.com/office/drawing/2014/main" id="{2399E822-493F-0355-1438-1C25E9B14E29}"/>
              </a:ext>
            </a:extLst>
          </p:cNvPr>
          <p:cNvSpPr txBox="1"/>
          <p:nvPr/>
        </p:nvSpPr>
        <p:spPr>
          <a:xfrm>
            <a:off x="838200" y="1345389"/>
            <a:ext cx="447620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Show Count of orders per customer?</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0405B82-164C-ECB2-817E-FDFDEEE613EB}"/>
              </a:ext>
            </a:extLst>
          </p:cNvPr>
          <p:cNvSpPr txBox="1"/>
          <p:nvPr/>
        </p:nvSpPr>
        <p:spPr>
          <a:xfrm>
            <a:off x="6644639" y="1345389"/>
            <a:ext cx="428461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Q. Show Total revenue per restaurant?</a:t>
            </a:r>
          </a:p>
        </p:txBody>
      </p:sp>
      <p:pic>
        <p:nvPicPr>
          <p:cNvPr id="6" name="Picture 5">
            <a:extLst>
              <a:ext uri="{FF2B5EF4-FFF2-40B4-BE49-F238E27FC236}">
                <a16:creationId xmlns:a16="http://schemas.microsoft.com/office/drawing/2014/main" id="{396199C0-22FD-0E9A-1E7C-68440596E634}"/>
              </a:ext>
            </a:extLst>
          </p:cNvPr>
          <p:cNvPicPr>
            <a:picLocks noChangeAspect="1"/>
          </p:cNvPicPr>
          <p:nvPr/>
        </p:nvPicPr>
        <p:blipFill>
          <a:blip r:embed="rId2"/>
          <a:stretch>
            <a:fillRect/>
          </a:stretch>
        </p:blipFill>
        <p:spPr>
          <a:xfrm>
            <a:off x="1481001" y="2826213"/>
            <a:ext cx="2019300" cy="3019425"/>
          </a:xfrm>
          <a:prstGeom prst="rect">
            <a:avLst/>
          </a:prstGeom>
        </p:spPr>
      </p:pic>
      <p:pic>
        <p:nvPicPr>
          <p:cNvPr id="7" name="Picture 6">
            <a:extLst>
              <a:ext uri="{FF2B5EF4-FFF2-40B4-BE49-F238E27FC236}">
                <a16:creationId xmlns:a16="http://schemas.microsoft.com/office/drawing/2014/main" id="{6E04F42D-23B2-8ED6-7CE7-2C2F09142EBB}"/>
              </a:ext>
            </a:extLst>
          </p:cNvPr>
          <p:cNvPicPr>
            <a:picLocks noChangeAspect="1"/>
          </p:cNvPicPr>
          <p:nvPr/>
        </p:nvPicPr>
        <p:blipFill>
          <a:blip r:embed="rId3"/>
          <a:stretch>
            <a:fillRect/>
          </a:stretch>
        </p:blipFill>
        <p:spPr>
          <a:xfrm>
            <a:off x="7882618" y="2988109"/>
            <a:ext cx="2305050" cy="2647950"/>
          </a:xfrm>
          <a:prstGeom prst="rect">
            <a:avLst/>
          </a:prstGeom>
        </p:spPr>
      </p:pic>
      <p:sp>
        <p:nvSpPr>
          <p:cNvPr id="8" name="TextBox 7">
            <a:extLst>
              <a:ext uri="{FF2B5EF4-FFF2-40B4-BE49-F238E27FC236}">
                <a16:creationId xmlns:a16="http://schemas.microsoft.com/office/drawing/2014/main" id="{40E86CFD-5D78-10DB-60AB-E4004EED2BDE}"/>
              </a:ext>
            </a:extLst>
          </p:cNvPr>
          <p:cNvSpPr txBox="1"/>
          <p:nvPr/>
        </p:nvSpPr>
        <p:spPr>
          <a:xfrm>
            <a:off x="838200" y="1875744"/>
            <a:ext cx="5684520" cy="646331"/>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CustomerID, COUNT(OrderID) AS TotalOrdersFROM OrdersGROUP BY CustomerID;</a:t>
            </a:r>
          </a:p>
        </p:txBody>
      </p:sp>
      <p:sp>
        <p:nvSpPr>
          <p:cNvPr id="10" name="TextBox 9">
            <a:extLst>
              <a:ext uri="{FF2B5EF4-FFF2-40B4-BE49-F238E27FC236}">
                <a16:creationId xmlns:a16="http://schemas.microsoft.com/office/drawing/2014/main" id="{8E709D77-01D2-6C7A-89D9-96D074A52C64}"/>
              </a:ext>
            </a:extLst>
          </p:cNvPr>
          <p:cNvSpPr txBox="1"/>
          <p:nvPr/>
        </p:nvSpPr>
        <p:spPr>
          <a:xfrm>
            <a:off x="6644639" y="1889750"/>
            <a:ext cx="5033555" cy="923330"/>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RestaurantID, SUM(TotalAmount) AS TotalRevenueFROM Orders GROUP BY RestaurantID</a:t>
            </a:r>
            <a:r>
              <a:rPr lang="en-IN" dirty="0">
                <a:solidFill>
                  <a:srgbClr val="0070C0"/>
                </a:solidFill>
              </a:rPr>
              <a:t>;</a:t>
            </a:r>
          </a:p>
        </p:txBody>
      </p:sp>
    </p:spTree>
    <p:extLst>
      <p:ext uri="{BB962C8B-B14F-4D97-AF65-F5344CB8AC3E}">
        <p14:creationId xmlns:p14="http://schemas.microsoft.com/office/powerpoint/2010/main" val="806638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436AE37-A922-2239-2DFC-20D11797801F}"/>
              </a:ext>
            </a:extLst>
          </p:cNvPr>
          <p:cNvSpPr>
            <a:spLocks noGrp="1"/>
          </p:cNvSpPr>
          <p:nvPr>
            <p:ph type="title"/>
          </p:nvPr>
        </p:nvSpPr>
        <p:spPr>
          <a:xfrm>
            <a:off x="838200" y="365126"/>
            <a:ext cx="10515600" cy="845366"/>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AGGREGATIONS</a:t>
            </a:r>
          </a:p>
        </p:txBody>
      </p:sp>
      <p:sp>
        <p:nvSpPr>
          <p:cNvPr id="4" name="TextBox 3">
            <a:extLst>
              <a:ext uri="{FF2B5EF4-FFF2-40B4-BE49-F238E27FC236}">
                <a16:creationId xmlns:a16="http://schemas.microsoft.com/office/drawing/2014/main" id="{91BAC3C8-F79B-8F88-5EF0-2894EDCC04AF}"/>
              </a:ext>
            </a:extLst>
          </p:cNvPr>
          <p:cNvSpPr txBox="1"/>
          <p:nvPr/>
        </p:nvSpPr>
        <p:spPr>
          <a:xfrm>
            <a:off x="661853" y="1414668"/>
            <a:ext cx="431292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Q. Show Average order total?</a:t>
            </a:r>
          </a:p>
        </p:txBody>
      </p:sp>
      <p:sp>
        <p:nvSpPr>
          <p:cNvPr id="5" name="TextBox 4">
            <a:extLst>
              <a:ext uri="{FF2B5EF4-FFF2-40B4-BE49-F238E27FC236}">
                <a16:creationId xmlns:a16="http://schemas.microsoft.com/office/drawing/2014/main" id="{5E99E5DA-43DD-0852-E81C-AAF4FF6AF5ED}"/>
              </a:ext>
            </a:extLst>
          </p:cNvPr>
          <p:cNvSpPr txBox="1"/>
          <p:nvPr/>
        </p:nvSpPr>
        <p:spPr>
          <a:xfrm>
            <a:off x="6189618" y="1414668"/>
            <a:ext cx="43129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Show First and last order dates?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CCEC30C-5C7A-068B-B7E2-689E2C3D611E}"/>
              </a:ext>
            </a:extLst>
          </p:cNvPr>
          <p:cNvPicPr>
            <a:picLocks noChangeAspect="1"/>
          </p:cNvPicPr>
          <p:nvPr/>
        </p:nvPicPr>
        <p:blipFill>
          <a:blip r:embed="rId3"/>
          <a:stretch>
            <a:fillRect/>
          </a:stretch>
        </p:blipFill>
        <p:spPr>
          <a:xfrm>
            <a:off x="711789" y="2851785"/>
            <a:ext cx="2390775" cy="838200"/>
          </a:xfrm>
          <a:prstGeom prst="rect">
            <a:avLst/>
          </a:prstGeom>
        </p:spPr>
      </p:pic>
      <p:pic>
        <p:nvPicPr>
          <p:cNvPr id="7" name="Picture 6">
            <a:extLst>
              <a:ext uri="{FF2B5EF4-FFF2-40B4-BE49-F238E27FC236}">
                <a16:creationId xmlns:a16="http://schemas.microsoft.com/office/drawing/2014/main" id="{3B51DEEA-5026-4D19-68DF-AA9C8D7E6893}"/>
              </a:ext>
            </a:extLst>
          </p:cNvPr>
          <p:cNvPicPr>
            <a:picLocks noChangeAspect="1"/>
          </p:cNvPicPr>
          <p:nvPr/>
        </p:nvPicPr>
        <p:blipFill>
          <a:blip r:embed="rId4"/>
          <a:stretch>
            <a:fillRect/>
          </a:stretch>
        </p:blipFill>
        <p:spPr>
          <a:xfrm>
            <a:off x="7077075" y="2666955"/>
            <a:ext cx="3543300" cy="923925"/>
          </a:xfrm>
          <a:prstGeom prst="rect">
            <a:avLst/>
          </a:prstGeom>
        </p:spPr>
      </p:pic>
      <p:sp>
        <p:nvSpPr>
          <p:cNvPr id="9" name="TextBox 8">
            <a:extLst>
              <a:ext uri="{FF2B5EF4-FFF2-40B4-BE49-F238E27FC236}">
                <a16:creationId xmlns:a16="http://schemas.microsoft.com/office/drawing/2014/main" id="{7D1C46C0-F879-8554-DCD5-AD0B3ADF6EB4}"/>
              </a:ext>
            </a:extLst>
          </p:cNvPr>
          <p:cNvSpPr txBox="1"/>
          <p:nvPr/>
        </p:nvSpPr>
        <p:spPr>
          <a:xfrm>
            <a:off x="583474" y="1947083"/>
            <a:ext cx="5094515" cy="646331"/>
          </a:xfrm>
          <a:prstGeom prst="rect">
            <a:avLst/>
          </a:prstGeom>
          <a:noFill/>
        </p:spPr>
        <p:txBody>
          <a:bodyPr wrap="square">
            <a:spAutoFit/>
          </a:bodyPr>
          <a:lstStyle/>
          <a:p>
            <a:r>
              <a:rPr lang="en-IN" dirty="0">
                <a:solidFill>
                  <a:srgbClr val="0070C0"/>
                </a:solidFill>
                <a:latin typeface="Times New Roman" panose="02020603050405020304" pitchFamily="18" charset="0"/>
                <a:cs typeface="Times New Roman" panose="02020603050405020304" pitchFamily="18" charset="0"/>
              </a:rPr>
              <a:t>SELECT AVG(TotalAmount) AS AverageOrder Amount FROM Orders;</a:t>
            </a:r>
          </a:p>
        </p:txBody>
      </p:sp>
      <p:sp>
        <p:nvSpPr>
          <p:cNvPr id="11" name="TextBox 10">
            <a:extLst>
              <a:ext uri="{FF2B5EF4-FFF2-40B4-BE49-F238E27FC236}">
                <a16:creationId xmlns:a16="http://schemas.microsoft.com/office/drawing/2014/main" id="{52FEB02E-C0C7-2227-7A1D-AD5F1949229D}"/>
              </a:ext>
            </a:extLst>
          </p:cNvPr>
          <p:cNvSpPr txBox="1"/>
          <p:nvPr/>
        </p:nvSpPr>
        <p:spPr>
          <a:xfrm>
            <a:off x="6189617" y="1784000"/>
            <a:ext cx="5318216" cy="646331"/>
          </a:xfrm>
          <a:prstGeom prst="rect">
            <a:avLst/>
          </a:prstGeom>
          <a:noFill/>
        </p:spPr>
        <p:txBody>
          <a:bodyPr wrap="square">
            <a:spAutoFit/>
          </a:bodyPr>
          <a:lstStyle/>
          <a:p>
            <a:r>
              <a:rPr lang="en-IN" dirty="0">
                <a:solidFill>
                  <a:srgbClr val="0070C0"/>
                </a:solidFill>
              </a:rPr>
              <a:t>SELECT MIN(OrderDate) AS FirstOrder, MAX(OrderDate) AS LastOrder FROM Orders;</a:t>
            </a:r>
          </a:p>
        </p:txBody>
      </p:sp>
      <p:sp>
        <p:nvSpPr>
          <p:cNvPr id="12" name="TextBox 11">
            <a:extLst>
              <a:ext uri="{FF2B5EF4-FFF2-40B4-BE49-F238E27FC236}">
                <a16:creationId xmlns:a16="http://schemas.microsoft.com/office/drawing/2014/main" id="{1F05B63D-7A05-0FFE-B6D7-761F799709A4}"/>
              </a:ext>
            </a:extLst>
          </p:cNvPr>
          <p:cNvSpPr txBox="1"/>
          <p:nvPr/>
        </p:nvSpPr>
        <p:spPr>
          <a:xfrm>
            <a:off x="583474" y="4406537"/>
            <a:ext cx="3910149"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Show Restaurants with more than 100 reviews?</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BA20A77-1205-62D7-E7EB-ADD3648CDF65}"/>
              </a:ext>
            </a:extLst>
          </p:cNvPr>
          <p:cNvSpPr txBox="1"/>
          <p:nvPr/>
        </p:nvSpPr>
        <p:spPr>
          <a:xfrm>
            <a:off x="583474" y="5120166"/>
            <a:ext cx="6096000" cy="646331"/>
          </a:xfrm>
          <a:prstGeom prst="rect">
            <a:avLst/>
          </a:prstGeom>
          <a:noFill/>
        </p:spPr>
        <p:txBody>
          <a:bodyPr wrap="square">
            <a:spAutoFit/>
          </a:bodyPr>
          <a:lstStyle/>
          <a:p>
            <a:r>
              <a:rPr lang="en-IN" dirty="0">
                <a:solidFill>
                  <a:srgbClr val="0070C0"/>
                </a:solidFill>
              </a:rPr>
              <a:t>SELECT RestaurantID, ReviewCount FROM RestaurantsWHERE ReviewCount &gt; 100;</a:t>
            </a:r>
          </a:p>
        </p:txBody>
      </p:sp>
      <p:pic>
        <p:nvPicPr>
          <p:cNvPr id="15" name="Picture 14">
            <a:extLst>
              <a:ext uri="{FF2B5EF4-FFF2-40B4-BE49-F238E27FC236}">
                <a16:creationId xmlns:a16="http://schemas.microsoft.com/office/drawing/2014/main" id="{C71FCA5F-C7CC-1484-F822-024740A97C6E}"/>
              </a:ext>
            </a:extLst>
          </p:cNvPr>
          <p:cNvPicPr>
            <a:picLocks noChangeAspect="1"/>
          </p:cNvPicPr>
          <p:nvPr/>
        </p:nvPicPr>
        <p:blipFill>
          <a:blip r:embed="rId5"/>
          <a:stretch>
            <a:fillRect/>
          </a:stretch>
        </p:blipFill>
        <p:spPr>
          <a:xfrm>
            <a:off x="6487886" y="3919393"/>
            <a:ext cx="2762250" cy="2266950"/>
          </a:xfrm>
          <a:prstGeom prst="rect">
            <a:avLst/>
          </a:prstGeom>
        </p:spPr>
      </p:pic>
    </p:spTree>
    <p:extLst>
      <p:ext uri="{BB962C8B-B14F-4D97-AF65-F5344CB8AC3E}">
        <p14:creationId xmlns:p14="http://schemas.microsoft.com/office/powerpoint/2010/main" val="3583437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059D68-E463-20CB-F6AD-3E4C46F3E816}"/>
              </a:ext>
            </a:extLst>
          </p:cNvPr>
          <p:cNvSpPr>
            <a:spLocks noGrp="1"/>
          </p:cNvSpPr>
          <p:nvPr>
            <p:ph type="title"/>
          </p:nvPr>
        </p:nvSpPr>
        <p:spPr>
          <a:xfrm>
            <a:off x="838200" y="347707"/>
            <a:ext cx="10515600" cy="758281"/>
          </a:xfrm>
          <a:solidFill>
            <a:srgbClr val="FF0000"/>
          </a:solidFill>
        </p:spPr>
        <p:txBody>
          <a:bodyPr>
            <a:normAutofit/>
          </a:bodyPr>
          <a:lstStyle/>
          <a:p>
            <a:pPr algn="ctr"/>
            <a:r>
              <a:rPr lang="en-IN" dirty="0"/>
              <a:t> </a:t>
            </a:r>
            <a:r>
              <a:rPr lang="en-IN" dirty="0">
                <a:solidFill>
                  <a:schemeClr val="bg1"/>
                </a:solidFill>
                <a:latin typeface="Times New Roman" panose="02020603050405020304" pitchFamily="18" charset="0"/>
                <a:cs typeface="Times New Roman" panose="02020603050405020304" pitchFamily="18" charset="0"/>
              </a:rPr>
              <a:t>ADVANCE FUNCTIONS</a:t>
            </a:r>
          </a:p>
        </p:txBody>
      </p:sp>
      <p:sp>
        <p:nvSpPr>
          <p:cNvPr id="5" name="TextBox 4">
            <a:extLst>
              <a:ext uri="{FF2B5EF4-FFF2-40B4-BE49-F238E27FC236}">
                <a16:creationId xmlns:a16="http://schemas.microsoft.com/office/drawing/2014/main" id="{3C478810-596C-CEF8-9BA0-928FFDA033BE}"/>
              </a:ext>
            </a:extLst>
          </p:cNvPr>
          <p:cNvSpPr txBox="1"/>
          <p:nvPr/>
        </p:nvSpPr>
        <p:spPr>
          <a:xfrm>
            <a:off x="748937" y="1304499"/>
            <a:ext cx="544285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a:t>
            </a:r>
            <a:r>
              <a:rPr lang="en-US" dirty="0">
                <a:latin typeface="Times New Roman" panose="02020603050405020304" pitchFamily="18" charset="0"/>
                <a:cs typeface="Times New Roman" panose="02020603050405020304" pitchFamily="18" charset="0"/>
              </a:rPr>
              <a:t>Display column showing customerID and Name ?</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F6CF0FB-936A-270C-3F33-EB886E5A0D39}"/>
              </a:ext>
            </a:extLst>
          </p:cNvPr>
          <p:cNvSpPr txBox="1"/>
          <p:nvPr/>
        </p:nvSpPr>
        <p:spPr>
          <a:xfrm>
            <a:off x="6487886" y="1295790"/>
            <a:ext cx="475488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 Make all customer names uppercase?</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A279D77-681D-AC66-C4BF-6680BAD28C2D}"/>
              </a:ext>
            </a:extLst>
          </p:cNvPr>
          <p:cNvPicPr>
            <a:picLocks noChangeAspect="1"/>
          </p:cNvPicPr>
          <p:nvPr/>
        </p:nvPicPr>
        <p:blipFill>
          <a:blip r:embed="rId2"/>
          <a:stretch>
            <a:fillRect/>
          </a:stretch>
        </p:blipFill>
        <p:spPr>
          <a:xfrm>
            <a:off x="966788" y="2984182"/>
            <a:ext cx="2943225" cy="2962275"/>
          </a:xfrm>
          <a:prstGeom prst="rect">
            <a:avLst/>
          </a:prstGeom>
        </p:spPr>
      </p:pic>
      <p:pic>
        <p:nvPicPr>
          <p:cNvPr id="8" name="Picture 7">
            <a:extLst>
              <a:ext uri="{FF2B5EF4-FFF2-40B4-BE49-F238E27FC236}">
                <a16:creationId xmlns:a16="http://schemas.microsoft.com/office/drawing/2014/main" id="{0FF6FB79-224E-A34F-C47F-69EB0B5BD3B8}"/>
              </a:ext>
            </a:extLst>
          </p:cNvPr>
          <p:cNvPicPr>
            <a:picLocks noChangeAspect="1"/>
          </p:cNvPicPr>
          <p:nvPr/>
        </p:nvPicPr>
        <p:blipFill>
          <a:blip r:embed="rId3"/>
          <a:stretch>
            <a:fillRect/>
          </a:stretch>
        </p:blipFill>
        <p:spPr>
          <a:xfrm>
            <a:off x="7604624" y="2984182"/>
            <a:ext cx="2085975" cy="3114675"/>
          </a:xfrm>
          <a:prstGeom prst="rect">
            <a:avLst/>
          </a:prstGeom>
        </p:spPr>
      </p:pic>
      <p:sp>
        <p:nvSpPr>
          <p:cNvPr id="4" name="TextBox 3">
            <a:extLst>
              <a:ext uri="{FF2B5EF4-FFF2-40B4-BE49-F238E27FC236}">
                <a16:creationId xmlns:a16="http://schemas.microsoft.com/office/drawing/2014/main" id="{9AFB6C3D-B173-E12D-57F0-970ABD3CB7A7}"/>
              </a:ext>
            </a:extLst>
          </p:cNvPr>
          <p:cNvSpPr txBox="1"/>
          <p:nvPr/>
        </p:nvSpPr>
        <p:spPr>
          <a:xfrm>
            <a:off x="748937" y="2005841"/>
            <a:ext cx="5442858" cy="646331"/>
          </a:xfrm>
          <a:prstGeom prst="rect">
            <a:avLst/>
          </a:prstGeom>
          <a:noFill/>
        </p:spPr>
        <p:txBody>
          <a:bodyPr wrap="square">
            <a:spAutoFit/>
          </a:bodyPr>
          <a:lstStyle/>
          <a:p>
            <a:r>
              <a:rPr lang="en-IN" dirty="0">
                <a:solidFill>
                  <a:srgbClr val="0070C0"/>
                </a:solidFill>
              </a:rPr>
              <a:t>SELECT CONCAT('Customer [', CustomerID, ']: ', Name) AS CustomerLabelFROM Customers;</a:t>
            </a:r>
          </a:p>
        </p:txBody>
      </p:sp>
      <p:sp>
        <p:nvSpPr>
          <p:cNvPr id="10" name="TextBox 9">
            <a:extLst>
              <a:ext uri="{FF2B5EF4-FFF2-40B4-BE49-F238E27FC236}">
                <a16:creationId xmlns:a16="http://schemas.microsoft.com/office/drawing/2014/main" id="{B2D5BA8D-B604-7E1D-9CCB-D1A3E32D5BAD}"/>
              </a:ext>
            </a:extLst>
          </p:cNvPr>
          <p:cNvSpPr txBox="1"/>
          <p:nvPr/>
        </p:nvSpPr>
        <p:spPr>
          <a:xfrm>
            <a:off x="6313714" y="1959674"/>
            <a:ext cx="5621383" cy="646331"/>
          </a:xfrm>
          <a:prstGeom prst="rect">
            <a:avLst/>
          </a:prstGeom>
          <a:noFill/>
        </p:spPr>
        <p:txBody>
          <a:bodyPr wrap="square">
            <a:spAutoFit/>
          </a:bodyPr>
          <a:lstStyle/>
          <a:p>
            <a:r>
              <a:rPr lang="en-IN" dirty="0">
                <a:solidFill>
                  <a:srgbClr val="0070C0"/>
                </a:solidFill>
              </a:rPr>
              <a:t>SELECT UPPER(Name) AS UpperCaseNameFROM Customers;</a:t>
            </a:r>
          </a:p>
        </p:txBody>
      </p:sp>
    </p:spTree>
    <p:extLst>
      <p:ext uri="{BB962C8B-B14F-4D97-AF65-F5344CB8AC3E}">
        <p14:creationId xmlns:p14="http://schemas.microsoft.com/office/powerpoint/2010/main" val="3457088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4B9C6E-FACF-5C33-8FE3-F3E0E26B4F21}"/>
              </a:ext>
            </a:extLst>
          </p:cNvPr>
          <p:cNvSpPr txBox="1"/>
          <p:nvPr/>
        </p:nvSpPr>
        <p:spPr>
          <a:xfrm>
            <a:off x="925286" y="1442050"/>
            <a:ext cx="5013960"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Show Extract the first 5 characters of an order ID?</a:t>
            </a:r>
          </a:p>
        </p:txBody>
      </p:sp>
      <p:sp>
        <p:nvSpPr>
          <p:cNvPr id="5" name="Title 1">
            <a:extLst>
              <a:ext uri="{FF2B5EF4-FFF2-40B4-BE49-F238E27FC236}">
                <a16:creationId xmlns:a16="http://schemas.microsoft.com/office/drawing/2014/main" id="{CAB07942-3152-3376-151A-D281EF758D0C}"/>
              </a:ext>
            </a:extLst>
          </p:cNvPr>
          <p:cNvSpPr>
            <a:spLocks noGrp="1"/>
          </p:cNvSpPr>
          <p:nvPr>
            <p:ph type="title"/>
          </p:nvPr>
        </p:nvSpPr>
        <p:spPr>
          <a:xfrm>
            <a:off x="838200" y="365126"/>
            <a:ext cx="10515600" cy="784406"/>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ADVANCE FUNCTIONS</a:t>
            </a:r>
          </a:p>
        </p:txBody>
      </p:sp>
      <p:sp>
        <p:nvSpPr>
          <p:cNvPr id="7" name="TextBox 6">
            <a:extLst>
              <a:ext uri="{FF2B5EF4-FFF2-40B4-BE49-F238E27FC236}">
                <a16:creationId xmlns:a16="http://schemas.microsoft.com/office/drawing/2014/main" id="{3B129EA8-5B12-BA46-1ED7-88CC8EA308D5}"/>
              </a:ext>
            </a:extLst>
          </p:cNvPr>
          <p:cNvSpPr txBox="1"/>
          <p:nvPr/>
        </p:nvSpPr>
        <p:spPr>
          <a:xfrm>
            <a:off x="7141029" y="1360211"/>
            <a:ext cx="3631474"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Find the year of each order?</a:t>
            </a:r>
          </a:p>
        </p:txBody>
      </p:sp>
      <p:pic>
        <p:nvPicPr>
          <p:cNvPr id="8" name="Picture 7">
            <a:extLst>
              <a:ext uri="{FF2B5EF4-FFF2-40B4-BE49-F238E27FC236}">
                <a16:creationId xmlns:a16="http://schemas.microsoft.com/office/drawing/2014/main" id="{1C24DBCF-A1E0-4819-C7D2-F66185490544}"/>
              </a:ext>
            </a:extLst>
          </p:cNvPr>
          <p:cNvPicPr>
            <a:picLocks noChangeAspect="1"/>
          </p:cNvPicPr>
          <p:nvPr/>
        </p:nvPicPr>
        <p:blipFill>
          <a:blip r:embed="rId2"/>
          <a:stretch>
            <a:fillRect/>
          </a:stretch>
        </p:blipFill>
        <p:spPr>
          <a:xfrm>
            <a:off x="925286" y="3124700"/>
            <a:ext cx="1857375" cy="2867025"/>
          </a:xfrm>
          <a:prstGeom prst="rect">
            <a:avLst/>
          </a:prstGeom>
        </p:spPr>
      </p:pic>
      <p:pic>
        <p:nvPicPr>
          <p:cNvPr id="9" name="Picture 8">
            <a:extLst>
              <a:ext uri="{FF2B5EF4-FFF2-40B4-BE49-F238E27FC236}">
                <a16:creationId xmlns:a16="http://schemas.microsoft.com/office/drawing/2014/main" id="{C1752F37-B2B0-6E78-EFB6-05DC1FC78823}"/>
              </a:ext>
            </a:extLst>
          </p:cNvPr>
          <p:cNvPicPr>
            <a:picLocks noChangeAspect="1"/>
          </p:cNvPicPr>
          <p:nvPr/>
        </p:nvPicPr>
        <p:blipFill>
          <a:blip r:embed="rId3"/>
          <a:stretch>
            <a:fillRect/>
          </a:stretch>
        </p:blipFill>
        <p:spPr>
          <a:xfrm>
            <a:off x="8212183" y="3124699"/>
            <a:ext cx="2133600" cy="2867025"/>
          </a:xfrm>
          <a:prstGeom prst="rect">
            <a:avLst/>
          </a:prstGeom>
        </p:spPr>
      </p:pic>
      <p:sp>
        <p:nvSpPr>
          <p:cNvPr id="3" name="TextBox 2">
            <a:extLst>
              <a:ext uri="{FF2B5EF4-FFF2-40B4-BE49-F238E27FC236}">
                <a16:creationId xmlns:a16="http://schemas.microsoft.com/office/drawing/2014/main" id="{B45B47D6-5F92-4CB0-17E9-EBB0FDA5C1C3}"/>
              </a:ext>
            </a:extLst>
          </p:cNvPr>
          <p:cNvSpPr txBox="1"/>
          <p:nvPr/>
        </p:nvSpPr>
        <p:spPr>
          <a:xfrm>
            <a:off x="487680" y="2175356"/>
            <a:ext cx="5608320" cy="646331"/>
          </a:xfrm>
          <a:prstGeom prst="rect">
            <a:avLst/>
          </a:prstGeom>
          <a:noFill/>
        </p:spPr>
        <p:txBody>
          <a:bodyPr wrap="square">
            <a:spAutoFit/>
          </a:bodyPr>
          <a:lstStyle/>
          <a:p>
            <a:r>
              <a:rPr lang="en-IN" dirty="0">
                <a:solidFill>
                  <a:srgbClr val="0070C0"/>
                </a:solidFill>
              </a:rPr>
              <a:t>SELECT SUBSTRING(OrderID, 1, 5) AS ShortOrderIDFROM Orders;</a:t>
            </a:r>
          </a:p>
        </p:txBody>
      </p:sp>
      <p:sp>
        <p:nvSpPr>
          <p:cNvPr id="10" name="TextBox 9">
            <a:extLst>
              <a:ext uri="{FF2B5EF4-FFF2-40B4-BE49-F238E27FC236}">
                <a16:creationId xmlns:a16="http://schemas.microsoft.com/office/drawing/2014/main" id="{FF91BDFD-3BE1-E5A5-B09F-78F47C4EDD19}"/>
              </a:ext>
            </a:extLst>
          </p:cNvPr>
          <p:cNvSpPr txBox="1"/>
          <p:nvPr/>
        </p:nvSpPr>
        <p:spPr>
          <a:xfrm>
            <a:off x="6461760" y="2175356"/>
            <a:ext cx="5730240" cy="646331"/>
          </a:xfrm>
          <a:prstGeom prst="rect">
            <a:avLst/>
          </a:prstGeom>
          <a:noFill/>
        </p:spPr>
        <p:txBody>
          <a:bodyPr wrap="square">
            <a:spAutoFit/>
          </a:bodyPr>
          <a:lstStyle/>
          <a:p>
            <a:r>
              <a:rPr lang="en-IN" dirty="0">
                <a:solidFill>
                  <a:srgbClr val="0070C0"/>
                </a:solidFill>
              </a:rPr>
              <a:t>SELECT OrderID, YEAR(OrderDate) AS OrderYearFROM Orders;</a:t>
            </a:r>
          </a:p>
        </p:txBody>
      </p:sp>
    </p:spTree>
    <p:extLst>
      <p:ext uri="{BB962C8B-B14F-4D97-AF65-F5344CB8AC3E}">
        <p14:creationId xmlns:p14="http://schemas.microsoft.com/office/powerpoint/2010/main" val="1600978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5FFE443-5AC0-24AE-C7CB-F2192396F3CB}"/>
              </a:ext>
            </a:extLst>
          </p:cNvPr>
          <p:cNvSpPr>
            <a:spLocks noGrp="1"/>
          </p:cNvSpPr>
          <p:nvPr>
            <p:ph type="title"/>
          </p:nvPr>
        </p:nvSpPr>
        <p:spPr>
          <a:xfrm>
            <a:off x="838200" y="365126"/>
            <a:ext cx="10515600" cy="810532"/>
          </a:xfrm>
          <a:solidFill>
            <a:srgbClr val="FF0000"/>
          </a:solidFill>
        </p:spPr>
        <p:txBody>
          <a:bodyPr>
            <a:normAutofit/>
          </a:bodyPr>
          <a:lstStyle/>
          <a:p>
            <a:pPr algn="ctr"/>
            <a:r>
              <a:rPr lang="en-IN" dirty="0"/>
              <a:t> </a:t>
            </a:r>
            <a:r>
              <a:rPr lang="en-IN" dirty="0">
                <a:solidFill>
                  <a:schemeClr val="bg1"/>
                </a:solidFill>
                <a:latin typeface="Times New Roman" panose="02020603050405020304" pitchFamily="18" charset="0"/>
                <a:cs typeface="Times New Roman" panose="02020603050405020304" pitchFamily="18" charset="0"/>
              </a:rPr>
              <a:t>ADVANCE FUNCTIONS</a:t>
            </a:r>
          </a:p>
        </p:txBody>
      </p:sp>
      <p:sp>
        <p:nvSpPr>
          <p:cNvPr id="5" name="TextBox 4">
            <a:extLst>
              <a:ext uri="{FF2B5EF4-FFF2-40B4-BE49-F238E27FC236}">
                <a16:creationId xmlns:a16="http://schemas.microsoft.com/office/drawing/2014/main" id="{DE97C0F8-91A3-DA4D-225D-36458D5D0E02}"/>
              </a:ext>
            </a:extLst>
          </p:cNvPr>
          <p:cNvSpPr txBox="1"/>
          <p:nvPr/>
        </p:nvSpPr>
        <p:spPr>
          <a:xfrm>
            <a:off x="838200" y="1390642"/>
            <a:ext cx="3620589"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Find the month of each order?</a:t>
            </a:r>
          </a:p>
        </p:txBody>
      </p:sp>
      <p:sp>
        <p:nvSpPr>
          <p:cNvPr id="7" name="TextBox 6">
            <a:extLst>
              <a:ext uri="{FF2B5EF4-FFF2-40B4-BE49-F238E27FC236}">
                <a16:creationId xmlns:a16="http://schemas.microsoft.com/office/drawing/2014/main" id="{CE7C62FD-E4C9-B732-FE02-2DE26EE28F84}"/>
              </a:ext>
            </a:extLst>
          </p:cNvPr>
          <p:cNvSpPr txBox="1"/>
          <p:nvPr/>
        </p:nvSpPr>
        <p:spPr>
          <a:xfrm>
            <a:off x="5257800" y="1427110"/>
            <a:ext cx="6096000"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Find the number of days between the order date and the payment date for each order?</a:t>
            </a:r>
          </a:p>
        </p:txBody>
      </p:sp>
      <p:pic>
        <p:nvPicPr>
          <p:cNvPr id="10" name="Picture 9">
            <a:extLst>
              <a:ext uri="{FF2B5EF4-FFF2-40B4-BE49-F238E27FC236}">
                <a16:creationId xmlns:a16="http://schemas.microsoft.com/office/drawing/2014/main" id="{CD65E4D8-08E7-C17D-91F6-E46DE7EBC88A}"/>
              </a:ext>
            </a:extLst>
          </p:cNvPr>
          <p:cNvPicPr>
            <a:picLocks noChangeAspect="1"/>
          </p:cNvPicPr>
          <p:nvPr/>
        </p:nvPicPr>
        <p:blipFill>
          <a:blip r:embed="rId2"/>
          <a:stretch>
            <a:fillRect/>
          </a:stretch>
        </p:blipFill>
        <p:spPr>
          <a:xfrm>
            <a:off x="933586" y="3192554"/>
            <a:ext cx="2567260" cy="2389640"/>
          </a:xfrm>
          <a:prstGeom prst="rect">
            <a:avLst/>
          </a:prstGeom>
        </p:spPr>
      </p:pic>
      <p:pic>
        <p:nvPicPr>
          <p:cNvPr id="11" name="Picture 10">
            <a:extLst>
              <a:ext uri="{FF2B5EF4-FFF2-40B4-BE49-F238E27FC236}">
                <a16:creationId xmlns:a16="http://schemas.microsoft.com/office/drawing/2014/main" id="{D07271F5-D04A-E00B-CB7F-72868D1A533E}"/>
              </a:ext>
            </a:extLst>
          </p:cNvPr>
          <p:cNvPicPr>
            <a:picLocks noChangeAspect="1"/>
          </p:cNvPicPr>
          <p:nvPr/>
        </p:nvPicPr>
        <p:blipFill>
          <a:blip r:embed="rId3"/>
          <a:stretch>
            <a:fillRect/>
          </a:stretch>
        </p:blipFill>
        <p:spPr>
          <a:xfrm>
            <a:off x="6703968" y="3213502"/>
            <a:ext cx="2628900" cy="2886075"/>
          </a:xfrm>
          <a:prstGeom prst="rect">
            <a:avLst/>
          </a:prstGeom>
        </p:spPr>
      </p:pic>
      <p:sp>
        <p:nvSpPr>
          <p:cNvPr id="4" name="TextBox 3">
            <a:extLst>
              <a:ext uri="{FF2B5EF4-FFF2-40B4-BE49-F238E27FC236}">
                <a16:creationId xmlns:a16="http://schemas.microsoft.com/office/drawing/2014/main" id="{B811DD2D-71B1-FE93-A227-52D72CEC4506}"/>
              </a:ext>
            </a:extLst>
          </p:cNvPr>
          <p:cNvSpPr txBox="1"/>
          <p:nvPr/>
        </p:nvSpPr>
        <p:spPr>
          <a:xfrm>
            <a:off x="679268" y="1934942"/>
            <a:ext cx="4014652" cy="646331"/>
          </a:xfrm>
          <a:prstGeom prst="rect">
            <a:avLst/>
          </a:prstGeom>
          <a:noFill/>
        </p:spPr>
        <p:txBody>
          <a:bodyPr wrap="square">
            <a:spAutoFit/>
          </a:bodyPr>
          <a:lstStyle/>
          <a:p>
            <a:r>
              <a:rPr lang="en-IN" dirty="0">
                <a:solidFill>
                  <a:srgbClr val="0070C0"/>
                </a:solidFill>
              </a:rPr>
              <a:t>SELECT OrderID, MONTH(OrderDate) AS OrderMonthFROM Orders;</a:t>
            </a:r>
          </a:p>
        </p:txBody>
      </p:sp>
      <p:sp>
        <p:nvSpPr>
          <p:cNvPr id="8" name="TextBox 7">
            <a:extLst>
              <a:ext uri="{FF2B5EF4-FFF2-40B4-BE49-F238E27FC236}">
                <a16:creationId xmlns:a16="http://schemas.microsoft.com/office/drawing/2014/main" id="{E752523D-F322-364E-D85A-C1EEA322CA0F}"/>
              </a:ext>
            </a:extLst>
          </p:cNvPr>
          <p:cNvSpPr txBox="1"/>
          <p:nvPr/>
        </p:nvSpPr>
        <p:spPr>
          <a:xfrm>
            <a:off x="5059681" y="2211941"/>
            <a:ext cx="6096000" cy="923330"/>
          </a:xfrm>
          <a:prstGeom prst="rect">
            <a:avLst/>
          </a:prstGeom>
          <a:noFill/>
        </p:spPr>
        <p:txBody>
          <a:bodyPr wrap="square">
            <a:spAutoFit/>
          </a:bodyPr>
          <a:lstStyle/>
          <a:p>
            <a:r>
              <a:rPr lang="en-IN" dirty="0">
                <a:solidFill>
                  <a:srgbClr val="0070C0"/>
                </a:solidFill>
              </a:rPr>
              <a:t>SELECT o.OrderID, DATEDIFF(p.PaymentDate, o.OrderDate) AS PaymentDelayDaysFROM Orders oJOIN Payments p ON o.OrderID = p.OrderID;</a:t>
            </a:r>
          </a:p>
        </p:txBody>
      </p:sp>
    </p:spTree>
    <p:extLst>
      <p:ext uri="{BB962C8B-B14F-4D97-AF65-F5344CB8AC3E}">
        <p14:creationId xmlns:p14="http://schemas.microsoft.com/office/powerpoint/2010/main" val="1886309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3F89EC-7F3D-D9D4-50FC-6C73CE98811C}"/>
              </a:ext>
            </a:extLst>
          </p:cNvPr>
          <p:cNvSpPr txBox="1"/>
          <p:nvPr/>
        </p:nvSpPr>
        <p:spPr>
          <a:xfrm>
            <a:off x="838200" y="1412020"/>
            <a:ext cx="6096000"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Q. Find the number of days it took for each payment after an order was placed?</a:t>
            </a:r>
            <a:endParaRPr lang="en-IN"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545A11DC-C3AF-ED04-80AB-BF5C0BE3F55A}"/>
              </a:ext>
            </a:extLst>
          </p:cNvPr>
          <p:cNvSpPr>
            <a:spLocks noGrp="1"/>
          </p:cNvSpPr>
          <p:nvPr>
            <p:ph type="title"/>
          </p:nvPr>
        </p:nvSpPr>
        <p:spPr>
          <a:xfrm>
            <a:off x="838200" y="312872"/>
            <a:ext cx="10515600" cy="740864"/>
          </a:xfrm>
          <a:solidFill>
            <a:srgbClr val="FF0000"/>
          </a:solidFill>
        </p:spPr>
        <p:txBody>
          <a:bodyPr>
            <a:normAutofit/>
          </a:bodyPr>
          <a:lstStyle/>
          <a:p>
            <a:pPr algn="ctr"/>
            <a:r>
              <a:rPr lang="en-IN" dirty="0"/>
              <a:t> </a:t>
            </a:r>
            <a:r>
              <a:rPr lang="en-IN" dirty="0">
                <a:solidFill>
                  <a:schemeClr val="bg1"/>
                </a:solidFill>
                <a:latin typeface="Times New Roman" panose="02020603050405020304" pitchFamily="18" charset="0"/>
                <a:cs typeface="Times New Roman" panose="02020603050405020304" pitchFamily="18" charset="0"/>
              </a:rPr>
              <a:t>ADVANCE FUNCTIONS</a:t>
            </a:r>
          </a:p>
        </p:txBody>
      </p:sp>
      <p:pic>
        <p:nvPicPr>
          <p:cNvPr id="6" name="Picture 5">
            <a:extLst>
              <a:ext uri="{FF2B5EF4-FFF2-40B4-BE49-F238E27FC236}">
                <a16:creationId xmlns:a16="http://schemas.microsoft.com/office/drawing/2014/main" id="{EBAF463E-135A-5668-DBC5-AF8AF51FD918}"/>
              </a:ext>
            </a:extLst>
          </p:cNvPr>
          <p:cNvPicPr>
            <a:picLocks noChangeAspect="1"/>
          </p:cNvPicPr>
          <p:nvPr/>
        </p:nvPicPr>
        <p:blipFill>
          <a:blip r:embed="rId2"/>
          <a:stretch>
            <a:fillRect/>
          </a:stretch>
        </p:blipFill>
        <p:spPr>
          <a:xfrm>
            <a:off x="838200" y="3429000"/>
            <a:ext cx="5486400" cy="2647950"/>
          </a:xfrm>
          <a:prstGeom prst="rect">
            <a:avLst/>
          </a:prstGeom>
        </p:spPr>
      </p:pic>
      <p:sp>
        <p:nvSpPr>
          <p:cNvPr id="3" name="TextBox 2">
            <a:extLst>
              <a:ext uri="{FF2B5EF4-FFF2-40B4-BE49-F238E27FC236}">
                <a16:creationId xmlns:a16="http://schemas.microsoft.com/office/drawing/2014/main" id="{DD64063F-295C-510F-9D0A-E3ACD477E022}"/>
              </a:ext>
            </a:extLst>
          </p:cNvPr>
          <p:cNvSpPr txBox="1"/>
          <p:nvPr/>
        </p:nvSpPr>
        <p:spPr>
          <a:xfrm>
            <a:off x="705394" y="2058351"/>
            <a:ext cx="6096000" cy="1200329"/>
          </a:xfrm>
          <a:prstGeom prst="rect">
            <a:avLst/>
          </a:prstGeom>
          <a:noFill/>
        </p:spPr>
        <p:txBody>
          <a:bodyPr wrap="square">
            <a:spAutoFit/>
          </a:bodyPr>
          <a:lstStyle/>
          <a:p>
            <a:r>
              <a:rPr lang="en-IN" dirty="0">
                <a:solidFill>
                  <a:srgbClr val="0070C0"/>
                </a:solidFill>
              </a:rPr>
              <a:t>SELECT o.OrderID, o.OrderDate, p.PaymentDate,        DATEDIFF(p.PaymentDate, o.OrderDate) AS PaymentProcessingDaysFROM Orders oJOIN Payments p ON o.OrderID = p.OrderID;</a:t>
            </a:r>
          </a:p>
        </p:txBody>
      </p:sp>
    </p:spTree>
    <p:extLst>
      <p:ext uri="{BB962C8B-B14F-4D97-AF65-F5344CB8AC3E}">
        <p14:creationId xmlns:p14="http://schemas.microsoft.com/office/powerpoint/2010/main" val="2565931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C018E1-9B03-7C58-C548-062C9F7726D4}"/>
              </a:ext>
            </a:extLst>
          </p:cNvPr>
          <p:cNvSpPr>
            <a:spLocks noGrp="1"/>
          </p:cNvSpPr>
          <p:nvPr>
            <p:ph type="title"/>
          </p:nvPr>
        </p:nvSpPr>
        <p:spPr>
          <a:xfrm>
            <a:off x="838200" y="365126"/>
            <a:ext cx="10515600" cy="810532"/>
          </a:xfrm>
          <a:solidFill>
            <a:srgbClr val="FF0000"/>
          </a:solidFill>
        </p:spPr>
        <p:txBody>
          <a:bodyPr>
            <a:normAutofit/>
          </a:bodyPr>
          <a:lstStyle/>
          <a:p>
            <a:pPr algn="ctr"/>
            <a:r>
              <a:rPr lang="en-IN" dirty="0"/>
              <a:t> </a:t>
            </a:r>
            <a:r>
              <a:rPr lang="en-IN" dirty="0">
                <a:solidFill>
                  <a:schemeClr val="bg1"/>
                </a:solidFill>
                <a:latin typeface="Times New Roman" panose="02020603050405020304" pitchFamily="18" charset="0"/>
                <a:cs typeface="Times New Roman" panose="02020603050405020304" pitchFamily="18" charset="0"/>
              </a:rPr>
              <a:t>WINDOWS FUNCTIONS</a:t>
            </a:r>
          </a:p>
        </p:txBody>
      </p:sp>
      <p:sp>
        <p:nvSpPr>
          <p:cNvPr id="5" name="TextBox 4">
            <a:extLst>
              <a:ext uri="{FF2B5EF4-FFF2-40B4-BE49-F238E27FC236}">
                <a16:creationId xmlns:a16="http://schemas.microsoft.com/office/drawing/2014/main" id="{6255FAE0-DFF7-EAA4-EDA5-B09F2D1DF8A4}"/>
              </a:ext>
            </a:extLst>
          </p:cNvPr>
          <p:cNvSpPr txBox="1"/>
          <p:nvPr/>
        </p:nvSpPr>
        <p:spPr>
          <a:xfrm>
            <a:off x="838200" y="1381878"/>
            <a:ext cx="4961709"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Show Rank orders by total amount per customer?</a:t>
            </a:r>
          </a:p>
        </p:txBody>
      </p:sp>
      <p:sp>
        <p:nvSpPr>
          <p:cNvPr id="9" name="TextBox 8">
            <a:extLst>
              <a:ext uri="{FF2B5EF4-FFF2-40B4-BE49-F238E27FC236}">
                <a16:creationId xmlns:a16="http://schemas.microsoft.com/office/drawing/2014/main" id="{94913C42-8ADE-2AED-6985-5009BDC9EDCC}"/>
              </a:ext>
            </a:extLst>
          </p:cNvPr>
          <p:cNvSpPr txBox="1"/>
          <p:nvPr/>
        </p:nvSpPr>
        <p:spPr>
          <a:xfrm>
            <a:off x="6215743" y="1335711"/>
            <a:ext cx="5138057"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Display Top 3 restaurants by total revenue?</a:t>
            </a:r>
          </a:p>
        </p:txBody>
      </p:sp>
      <p:pic>
        <p:nvPicPr>
          <p:cNvPr id="10" name="Picture 9">
            <a:extLst>
              <a:ext uri="{FF2B5EF4-FFF2-40B4-BE49-F238E27FC236}">
                <a16:creationId xmlns:a16="http://schemas.microsoft.com/office/drawing/2014/main" id="{2713F895-AF72-66B0-60A3-05C39838C24B}"/>
              </a:ext>
            </a:extLst>
          </p:cNvPr>
          <p:cNvPicPr>
            <a:picLocks noChangeAspect="1"/>
          </p:cNvPicPr>
          <p:nvPr/>
        </p:nvPicPr>
        <p:blipFill>
          <a:blip r:embed="rId2"/>
          <a:stretch>
            <a:fillRect/>
          </a:stretch>
        </p:blipFill>
        <p:spPr>
          <a:xfrm>
            <a:off x="759823" y="3270749"/>
            <a:ext cx="3781425" cy="2981325"/>
          </a:xfrm>
          <a:prstGeom prst="rect">
            <a:avLst/>
          </a:prstGeom>
        </p:spPr>
      </p:pic>
      <p:pic>
        <p:nvPicPr>
          <p:cNvPr id="11" name="Picture 10">
            <a:extLst>
              <a:ext uri="{FF2B5EF4-FFF2-40B4-BE49-F238E27FC236}">
                <a16:creationId xmlns:a16="http://schemas.microsoft.com/office/drawing/2014/main" id="{ABE9EEDD-A7DC-D76B-18FC-330926A4E3C5}"/>
              </a:ext>
            </a:extLst>
          </p:cNvPr>
          <p:cNvPicPr>
            <a:picLocks noChangeAspect="1"/>
          </p:cNvPicPr>
          <p:nvPr/>
        </p:nvPicPr>
        <p:blipFill>
          <a:blip r:embed="rId3"/>
          <a:stretch>
            <a:fillRect/>
          </a:stretch>
        </p:blipFill>
        <p:spPr>
          <a:xfrm>
            <a:off x="6955971" y="3731589"/>
            <a:ext cx="3657600" cy="1790700"/>
          </a:xfrm>
          <a:prstGeom prst="rect">
            <a:avLst/>
          </a:prstGeom>
        </p:spPr>
      </p:pic>
      <p:sp>
        <p:nvSpPr>
          <p:cNvPr id="4" name="TextBox 3">
            <a:extLst>
              <a:ext uri="{FF2B5EF4-FFF2-40B4-BE49-F238E27FC236}">
                <a16:creationId xmlns:a16="http://schemas.microsoft.com/office/drawing/2014/main" id="{7C7A9BA2-3474-6DAE-9738-49EC90339941}"/>
              </a:ext>
            </a:extLst>
          </p:cNvPr>
          <p:cNvSpPr txBox="1"/>
          <p:nvPr/>
        </p:nvSpPr>
        <p:spPr>
          <a:xfrm>
            <a:off x="470263" y="1983163"/>
            <a:ext cx="5442857" cy="1200329"/>
          </a:xfrm>
          <a:prstGeom prst="rect">
            <a:avLst/>
          </a:prstGeom>
          <a:noFill/>
        </p:spPr>
        <p:txBody>
          <a:bodyPr wrap="square">
            <a:spAutoFit/>
          </a:bodyPr>
          <a:lstStyle/>
          <a:p>
            <a:r>
              <a:rPr lang="en-IN" dirty="0">
                <a:solidFill>
                  <a:srgbClr val="0070C0"/>
                </a:solidFill>
              </a:rPr>
              <a:t>SELECT OrderID,CustomerID,TotalAmount,ROW_NUMBER() OVER(PARTITION BY CustomerID ORDER BY TotalAmount DESC) AS OrderRankFROM Orders;</a:t>
            </a:r>
          </a:p>
        </p:txBody>
      </p:sp>
      <p:sp>
        <p:nvSpPr>
          <p:cNvPr id="7" name="TextBox 6">
            <a:extLst>
              <a:ext uri="{FF2B5EF4-FFF2-40B4-BE49-F238E27FC236}">
                <a16:creationId xmlns:a16="http://schemas.microsoft.com/office/drawing/2014/main" id="{FA84A13B-D0EC-BD14-542D-CB80142FE659}"/>
              </a:ext>
            </a:extLst>
          </p:cNvPr>
          <p:cNvSpPr txBox="1"/>
          <p:nvPr/>
        </p:nvSpPr>
        <p:spPr>
          <a:xfrm>
            <a:off x="6096000" y="1951672"/>
            <a:ext cx="6096000" cy="1477328"/>
          </a:xfrm>
          <a:prstGeom prst="rect">
            <a:avLst/>
          </a:prstGeom>
          <a:noFill/>
        </p:spPr>
        <p:txBody>
          <a:bodyPr wrap="square">
            <a:spAutoFit/>
          </a:bodyPr>
          <a:lstStyle/>
          <a:p>
            <a:r>
              <a:rPr lang="en-IN" dirty="0">
                <a:solidFill>
                  <a:srgbClr val="0070C0"/>
                </a:solidFill>
              </a:rPr>
              <a:t>SELECT RestaurantID, TotalRevenue, RevenueRankFROM (SELECT RestaurantID, SUM(TotalAmount) AS TotalRevenue, RANK() OVER(ORDER BY SUM(TotalAmount) DESC) AS RevenueRankFROM Orders GROUP BY RestaurantID) AS RankedRestaurants WHERE RevenueRank &lt; 4;</a:t>
            </a:r>
          </a:p>
        </p:txBody>
      </p:sp>
    </p:spTree>
    <p:extLst>
      <p:ext uri="{BB962C8B-B14F-4D97-AF65-F5344CB8AC3E}">
        <p14:creationId xmlns:p14="http://schemas.microsoft.com/office/powerpoint/2010/main" val="1180431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AB6ABC-0D6B-8F67-20E8-86FB95090ACA}"/>
              </a:ext>
            </a:extLst>
          </p:cNvPr>
          <p:cNvSpPr>
            <a:spLocks noGrp="1"/>
          </p:cNvSpPr>
          <p:nvPr>
            <p:ph type="title"/>
          </p:nvPr>
        </p:nvSpPr>
        <p:spPr>
          <a:xfrm>
            <a:off x="838200" y="365125"/>
            <a:ext cx="10515600" cy="819241"/>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WINDOWS FUNCTIONS</a:t>
            </a:r>
          </a:p>
        </p:txBody>
      </p:sp>
      <p:sp>
        <p:nvSpPr>
          <p:cNvPr id="5" name="TextBox 4">
            <a:extLst>
              <a:ext uri="{FF2B5EF4-FFF2-40B4-BE49-F238E27FC236}">
                <a16:creationId xmlns:a16="http://schemas.microsoft.com/office/drawing/2014/main" id="{3C9AF90D-5C8F-B37C-B6C9-8524FD70C5E1}"/>
              </a:ext>
            </a:extLst>
          </p:cNvPr>
          <p:cNvSpPr txBox="1"/>
          <p:nvPr/>
        </p:nvSpPr>
        <p:spPr>
          <a:xfrm>
            <a:off x="838200" y="1412150"/>
            <a:ext cx="4874623"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Display Quartiles of total spending per customer?</a:t>
            </a:r>
          </a:p>
        </p:txBody>
      </p:sp>
      <p:sp>
        <p:nvSpPr>
          <p:cNvPr id="7" name="TextBox 6">
            <a:extLst>
              <a:ext uri="{FF2B5EF4-FFF2-40B4-BE49-F238E27FC236}">
                <a16:creationId xmlns:a16="http://schemas.microsoft.com/office/drawing/2014/main" id="{98EB6C73-CEB7-EF71-8B12-2DA9CF7E135F}"/>
              </a:ext>
            </a:extLst>
          </p:cNvPr>
          <p:cNvSpPr txBox="1"/>
          <p:nvPr/>
        </p:nvSpPr>
        <p:spPr>
          <a:xfrm>
            <a:off x="5878287" y="1397709"/>
            <a:ext cx="5503815"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Show Revenue per restaurant cuisine?</a:t>
            </a:r>
          </a:p>
        </p:txBody>
      </p:sp>
      <p:pic>
        <p:nvPicPr>
          <p:cNvPr id="8" name="Picture 7">
            <a:extLst>
              <a:ext uri="{FF2B5EF4-FFF2-40B4-BE49-F238E27FC236}">
                <a16:creationId xmlns:a16="http://schemas.microsoft.com/office/drawing/2014/main" id="{1DF6FD06-2FF3-0C12-56B5-96BBC5BD937B}"/>
              </a:ext>
            </a:extLst>
          </p:cNvPr>
          <p:cNvPicPr>
            <a:picLocks noChangeAspect="1"/>
          </p:cNvPicPr>
          <p:nvPr/>
        </p:nvPicPr>
        <p:blipFill>
          <a:blip r:embed="rId2"/>
          <a:stretch>
            <a:fillRect/>
          </a:stretch>
        </p:blipFill>
        <p:spPr>
          <a:xfrm>
            <a:off x="922837" y="3226287"/>
            <a:ext cx="3257550" cy="2762250"/>
          </a:xfrm>
          <a:prstGeom prst="rect">
            <a:avLst/>
          </a:prstGeom>
        </p:spPr>
      </p:pic>
      <p:pic>
        <p:nvPicPr>
          <p:cNvPr id="9" name="Picture 8">
            <a:extLst>
              <a:ext uri="{FF2B5EF4-FFF2-40B4-BE49-F238E27FC236}">
                <a16:creationId xmlns:a16="http://schemas.microsoft.com/office/drawing/2014/main" id="{7A5E3A74-988E-0652-0485-33E956457562}"/>
              </a:ext>
            </a:extLst>
          </p:cNvPr>
          <p:cNvPicPr>
            <a:picLocks noChangeAspect="1"/>
          </p:cNvPicPr>
          <p:nvPr/>
        </p:nvPicPr>
        <p:blipFill>
          <a:blip r:embed="rId3"/>
          <a:stretch>
            <a:fillRect/>
          </a:stretch>
        </p:blipFill>
        <p:spPr>
          <a:xfrm>
            <a:off x="6313714" y="3419475"/>
            <a:ext cx="4432959" cy="2663462"/>
          </a:xfrm>
          <a:prstGeom prst="rect">
            <a:avLst/>
          </a:prstGeom>
        </p:spPr>
      </p:pic>
      <p:sp>
        <p:nvSpPr>
          <p:cNvPr id="4" name="TextBox 3">
            <a:extLst>
              <a:ext uri="{FF2B5EF4-FFF2-40B4-BE49-F238E27FC236}">
                <a16:creationId xmlns:a16="http://schemas.microsoft.com/office/drawing/2014/main" id="{B5A55BB6-B9C7-60DF-6835-445368B260B6}"/>
              </a:ext>
            </a:extLst>
          </p:cNvPr>
          <p:cNvSpPr txBox="1"/>
          <p:nvPr/>
        </p:nvSpPr>
        <p:spPr>
          <a:xfrm>
            <a:off x="505097" y="2034999"/>
            <a:ext cx="5312229" cy="923330"/>
          </a:xfrm>
          <a:prstGeom prst="rect">
            <a:avLst/>
          </a:prstGeom>
          <a:noFill/>
        </p:spPr>
        <p:txBody>
          <a:bodyPr wrap="square">
            <a:spAutoFit/>
          </a:bodyPr>
          <a:lstStyle/>
          <a:p>
            <a:r>
              <a:rPr lang="en-IN" dirty="0">
                <a:solidFill>
                  <a:srgbClr val="0070C0"/>
                </a:solidFill>
              </a:rPr>
              <a:t>SELECT CustomerID,SUM(TotalAmount) AS TotalSpent, NTILE(4) OVER(ORDER BY SUM(TotalAmount) DESC) AS SpendingQuartileFROM Orders GROUP BY CustomerID;</a:t>
            </a:r>
          </a:p>
        </p:txBody>
      </p:sp>
      <p:sp>
        <p:nvSpPr>
          <p:cNvPr id="10" name="TextBox 9">
            <a:extLst>
              <a:ext uri="{FF2B5EF4-FFF2-40B4-BE49-F238E27FC236}">
                <a16:creationId xmlns:a16="http://schemas.microsoft.com/office/drawing/2014/main" id="{DA54FF14-8108-32DD-2F88-86F8D67B534E}"/>
              </a:ext>
            </a:extLst>
          </p:cNvPr>
          <p:cNvSpPr txBox="1"/>
          <p:nvPr/>
        </p:nvSpPr>
        <p:spPr>
          <a:xfrm>
            <a:off x="5878287" y="1888051"/>
            <a:ext cx="5947955" cy="1477328"/>
          </a:xfrm>
          <a:prstGeom prst="rect">
            <a:avLst/>
          </a:prstGeom>
          <a:noFill/>
        </p:spPr>
        <p:txBody>
          <a:bodyPr wrap="square">
            <a:spAutoFit/>
          </a:bodyPr>
          <a:lstStyle/>
          <a:p>
            <a:r>
              <a:rPr lang="en-IN" dirty="0">
                <a:solidFill>
                  <a:srgbClr val="0070C0"/>
                </a:solidFill>
              </a:rPr>
              <a:t>SELECT r.Cuisine,o.RestaurantID,SUM(o.TotalAmount) AS CuisineRevenue,SUM(SUM(o.TotalAmount)) OVER(PARTITION BY r.Cuisine) AS TotalCuisineRevenueFROM Orders o JOIN Restaurants r ON o.RestaurantID = r.RestaurantIDGROUP BY r.Cuisine, o.RestaurantID;</a:t>
            </a:r>
          </a:p>
        </p:txBody>
      </p:sp>
    </p:spTree>
    <p:extLst>
      <p:ext uri="{BB962C8B-B14F-4D97-AF65-F5344CB8AC3E}">
        <p14:creationId xmlns:p14="http://schemas.microsoft.com/office/powerpoint/2010/main" val="2136676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3D8C906-B3F7-A106-A3D4-78169DC9DF44}"/>
              </a:ext>
            </a:extLst>
          </p:cNvPr>
          <p:cNvSpPr>
            <a:spLocks noGrp="1"/>
          </p:cNvSpPr>
          <p:nvPr>
            <p:ph type="title"/>
          </p:nvPr>
        </p:nvSpPr>
        <p:spPr>
          <a:xfrm>
            <a:off x="838200" y="365126"/>
            <a:ext cx="10515600" cy="714738"/>
          </a:xfrm>
          <a:solidFill>
            <a:srgbClr val="FF0000"/>
          </a:solidFill>
        </p:spPr>
        <p:txBody>
          <a:bodyPr>
            <a:normAutofit fontScale="90000"/>
          </a:bodyPr>
          <a:lstStyle/>
          <a:p>
            <a:pPr algn="ctr"/>
            <a:r>
              <a:rPr lang="en-IN" dirty="0"/>
              <a:t> </a:t>
            </a:r>
            <a:r>
              <a:rPr lang="en-IN" dirty="0">
                <a:solidFill>
                  <a:schemeClr val="bg1"/>
                </a:solidFill>
                <a:latin typeface="Times New Roman" panose="02020603050405020304" pitchFamily="18" charset="0"/>
                <a:cs typeface="Times New Roman" panose="02020603050405020304" pitchFamily="18" charset="0"/>
              </a:rPr>
              <a:t>SUBQUERIES</a:t>
            </a:r>
          </a:p>
        </p:txBody>
      </p:sp>
      <p:sp>
        <p:nvSpPr>
          <p:cNvPr id="4" name="TextBox 3">
            <a:extLst>
              <a:ext uri="{FF2B5EF4-FFF2-40B4-BE49-F238E27FC236}">
                <a16:creationId xmlns:a16="http://schemas.microsoft.com/office/drawing/2014/main" id="{49D747D5-ABA4-CADD-8E35-11D97E563DAE}"/>
              </a:ext>
            </a:extLst>
          </p:cNvPr>
          <p:cNvSpPr txBox="1"/>
          <p:nvPr/>
        </p:nvSpPr>
        <p:spPr>
          <a:xfrm>
            <a:off x="812073" y="1256321"/>
            <a:ext cx="4778829"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Display Customer with highest total spending?</a:t>
            </a:r>
          </a:p>
        </p:txBody>
      </p:sp>
      <p:sp>
        <p:nvSpPr>
          <p:cNvPr id="6" name="TextBox 5">
            <a:extLst>
              <a:ext uri="{FF2B5EF4-FFF2-40B4-BE49-F238E27FC236}">
                <a16:creationId xmlns:a16="http://schemas.microsoft.com/office/drawing/2014/main" id="{42ACB3D4-079E-746D-48C9-C150AD537636}"/>
              </a:ext>
            </a:extLst>
          </p:cNvPr>
          <p:cNvSpPr txBox="1"/>
          <p:nvPr/>
        </p:nvSpPr>
        <p:spPr>
          <a:xfrm>
            <a:off x="6337664" y="1292667"/>
            <a:ext cx="5042263"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Show Restaurants ordered by top 5 customers?</a:t>
            </a:r>
          </a:p>
        </p:txBody>
      </p:sp>
      <p:pic>
        <p:nvPicPr>
          <p:cNvPr id="7" name="Picture 6">
            <a:extLst>
              <a:ext uri="{FF2B5EF4-FFF2-40B4-BE49-F238E27FC236}">
                <a16:creationId xmlns:a16="http://schemas.microsoft.com/office/drawing/2014/main" id="{D6F88795-B8B7-032D-412B-6EAF2F90DE2D}"/>
              </a:ext>
            </a:extLst>
          </p:cNvPr>
          <p:cNvPicPr>
            <a:picLocks noChangeAspect="1"/>
          </p:cNvPicPr>
          <p:nvPr/>
        </p:nvPicPr>
        <p:blipFill>
          <a:blip r:embed="rId2"/>
          <a:stretch>
            <a:fillRect/>
          </a:stretch>
        </p:blipFill>
        <p:spPr>
          <a:xfrm>
            <a:off x="1062036" y="2921386"/>
            <a:ext cx="2752725" cy="1495425"/>
          </a:xfrm>
          <a:prstGeom prst="rect">
            <a:avLst/>
          </a:prstGeom>
        </p:spPr>
      </p:pic>
      <p:pic>
        <p:nvPicPr>
          <p:cNvPr id="8" name="Picture 7">
            <a:extLst>
              <a:ext uri="{FF2B5EF4-FFF2-40B4-BE49-F238E27FC236}">
                <a16:creationId xmlns:a16="http://schemas.microsoft.com/office/drawing/2014/main" id="{77843D90-FC70-F06A-6A23-9CEC13E7D995}"/>
              </a:ext>
            </a:extLst>
          </p:cNvPr>
          <p:cNvPicPr>
            <a:picLocks noChangeAspect="1"/>
          </p:cNvPicPr>
          <p:nvPr/>
        </p:nvPicPr>
        <p:blipFill>
          <a:blip r:embed="rId3"/>
          <a:stretch>
            <a:fillRect/>
          </a:stretch>
        </p:blipFill>
        <p:spPr>
          <a:xfrm>
            <a:off x="9824909" y="2765415"/>
            <a:ext cx="1457325" cy="2057400"/>
          </a:xfrm>
          <a:prstGeom prst="rect">
            <a:avLst/>
          </a:prstGeom>
        </p:spPr>
      </p:pic>
      <p:sp>
        <p:nvSpPr>
          <p:cNvPr id="10" name="TextBox 9">
            <a:extLst>
              <a:ext uri="{FF2B5EF4-FFF2-40B4-BE49-F238E27FC236}">
                <a16:creationId xmlns:a16="http://schemas.microsoft.com/office/drawing/2014/main" id="{4B992959-0B68-2700-618D-03F600D58E38}"/>
              </a:ext>
            </a:extLst>
          </p:cNvPr>
          <p:cNvSpPr txBox="1"/>
          <p:nvPr/>
        </p:nvSpPr>
        <p:spPr>
          <a:xfrm>
            <a:off x="478973" y="1802111"/>
            <a:ext cx="6096000" cy="923330"/>
          </a:xfrm>
          <a:prstGeom prst="rect">
            <a:avLst/>
          </a:prstGeom>
          <a:noFill/>
        </p:spPr>
        <p:txBody>
          <a:bodyPr wrap="square">
            <a:spAutoFit/>
          </a:bodyPr>
          <a:lstStyle/>
          <a:p>
            <a:r>
              <a:rPr lang="en-IN" dirty="0">
                <a:solidFill>
                  <a:srgbClr val="0070C0"/>
                </a:solidFill>
              </a:rPr>
              <a:t>SELECT CustomerID, Name FROM Customers WHERE CustomerID = (SELECT CustomerID FROM Orders GROUP BY CustomerID ORDER BY SUM(TotalAmount) DESCLIMIT 1);</a:t>
            </a:r>
          </a:p>
        </p:txBody>
      </p:sp>
      <p:sp>
        <p:nvSpPr>
          <p:cNvPr id="12" name="TextBox 11">
            <a:extLst>
              <a:ext uri="{FF2B5EF4-FFF2-40B4-BE49-F238E27FC236}">
                <a16:creationId xmlns:a16="http://schemas.microsoft.com/office/drawing/2014/main" id="{9CB5825D-8D0C-2388-9BD6-BB9731EEAF2C}"/>
              </a:ext>
            </a:extLst>
          </p:cNvPr>
          <p:cNvSpPr txBox="1"/>
          <p:nvPr/>
        </p:nvSpPr>
        <p:spPr>
          <a:xfrm>
            <a:off x="6380802" y="1906281"/>
            <a:ext cx="5651863" cy="646331"/>
          </a:xfrm>
          <a:prstGeom prst="rect">
            <a:avLst/>
          </a:prstGeom>
          <a:noFill/>
        </p:spPr>
        <p:txBody>
          <a:bodyPr wrap="square">
            <a:spAutoFit/>
          </a:bodyPr>
          <a:lstStyle/>
          <a:p>
            <a:r>
              <a:rPr lang="en-IN" dirty="0">
                <a:solidFill>
                  <a:srgbClr val="0070C0"/>
                </a:solidFill>
              </a:rPr>
              <a:t>SELECT CustomerID FROM Orders GROUP BY CustomerID ORDER BYSUM(TotalAmount) DESC LIMIT 5;</a:t>
            </a:r>
          </a:p>
        </p:txBody>
      </p:sp>
      <p:sp>
        <p:nvSpPr>
          <p:cNvPr id="14" name="TextBox 13">
            <a:extLst>
              <a:ext uri="{FF2B5EF4-FFF2-40B4-BE49-F238E27FC236}">
                <a16:creationId xmlns:a16="http://schemas.microsoft.com/office/drawing/2014/main" id="{87DEAE40-72C6-DEC3-9665-9241D4B7CBCF}"/>
              </a:ext>
            </a:extLst>
          </p:cNvPr>
          <p:cNvSpPr txBox="1"/>
          <p:nvPr/>
        </p:nvSpPr>
        <p:spPr>
          <a:xfrm>
            <a:off x="418012" y="4596339"/>
            <a:ext cx="5199017"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Display Customers who wrote at least one review?</a:t>
            </a:r>
          </a:p>
        </p:txBody>
      </p:sp>
      <p:sp>
        <p:nvSpPr>
          <p:cNvPr id="16" name="TextBox 15">
            <a:extLst>
              <a:ext uri="{FF2B5EF4-FFF2-40B4-BE49-F238E27FC236}">
                <a16:creationId xmlns:a16="http://schemas.microsoft.com/office/drawing/2014/main" id="{96922B8B-769A-0507-A9F5-EA25C7F65CB9}"/>
              </a:ext>
            </a:extLst>
          </p:cNvPr>
          <p:cNvSpPr txBox="1"/>
          <p:nvPr/>
        </p:nvSpPr>
        <p:spPr>
          <a:xfrm>
            <a:off x="348343" y="5184169"/>
            <a:ext cx="5199017" cy="923330"/>
          </a:xfrm>
          <a:prstGeom prst="rect">
            <a:avLst/>
          </a:prstGeom>
          <a:noFill/>
        </p:spPr>
        <p:txBody>
          <a:bodyPr wrap="square">
            <a:spAutoFit/>
          </a:bodyPr>
          <a:lstStyle/>
          <a:p>
            <a:r>
              <a:rPr lang="en-IN" dirty="0">
                <a:solidFill>
                  <a:srgbClr val="0070C0"/>
                </a:solidFill>
              </a:rPr>
              <a:t>SELECT CustomerID, Name FROM Customers c WHERE EXISTS (SELECT 1 FROM Reviews r WHERE r.CustomerID = c.CustomerID);</a:t>
            </a:r>
          </a:p>
        </p:txBody>
      </p:sp>
      <p:pic>
        <p:nvPicPr>
          <p:cNvPr id="17" name="Picture 16">
            <a:extLst>
              <a:ext uri="{FF2B5EF4-FFF2-40B4-BE49-F238E27FC236}">
                <a16:creationId xmlns:a16="http://schemas.microsoft.com/office/drawing/2014/main" id="{0D650081-31A6-1407-5894-0B3529453E79}"/>
              </a:ext>
            </a:extLst>
          </p:cNvPr>
          <p:cNvPicPr>
            <a:picLocks noChangeAspect="1"/>
          </p:cNvPicPr>
          <p:nvPr/>
        </p:nvPicPr>
        <p:blipFill>
          <a:blip r:embed="rId4"/>
          <a:stretch>
            <a:fillRect/>
          </a:stretch>
        </p:blipFill>
        <p:spPr>
          <a:xfrm>
            <a:off x="6096000" y="3746471"/>
            <a:ext cx="2438400" cy="2438400"/>
          </a:xfrm>
          <a:prstGeom prst="rect">
            <a:avLst/>
          </a:prstGeom>
        </p:spPr>
      </p:pic>
    </p:spTree>
    <p:extLst>
      <p:ext uri="{BB962C8B-B14F-4D97-AF65-F5344CB8AC3E}">
        <p14:creationId xmlns:p14="http://schemas.microsoft.com/office/powerpoint/2010/main" val="1590779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D946B83-14A3-05C4-8F8C-9016045D6114}"/>
              </a:ext>
            </a:extLst>
          </p:cNvPr>
          <p:cNvSpPr>
            <a:spLocks noGrp="1"/>
          </p:cNvSpPr>
          <p:nvPr>
            <p:ph type="title"/>
          </p:nvPr>
        </p:nvSpPr>
        <p:spPr>
          <a:xfrm>
            <a:off x="838200" y="365126"/>
            <a:ext cx="10515600" cy="766988"/>
          </a:xfrm>
          <a:solidFill>
            <a:srgbClr val="FF0000"/>
          </a:solidFill>
        </p:spPr>
        <p:txBody>
          <a:bodyPr>
            <a:normAutofit/>
          </a:bodyPr>
          <a:lstStyle/>
          <a:p>
            <a:pPr algn="ctr"/>
            <a:r>
              <a:rPr lang="en-IN" dirty="0"/>
              <a:t> </a:t>
            </a:r>
            <a:r>
              <a:rPr lang="en-IN" dirty="0">
                <a:solidFill>
                  <a:schemeClr val="bg1"/>
                </a:solidFill>
                <a:latin typeface="Times New Roman" panose="02020603050405020304" pitchFamily="18" charset="0"/>
                <a:cs typeface="Times New Roman" panose="02020603050405020304" pitchFamily="18" charset="0"/>
              </a:rPr>
              <a:t>CONDITIONAL  LOGIC</a:t>
            </a:r>
          </a:p>
        </p:txBody>
      </p:sp>
      <p:sp>
        <p:nvSpPr>
          <p:cNvPr id="5" name="TextBox 4">
            <a:extLst>
              <a:ext uri="{FF2B5EF4-FFF2-40B4-BE49-F238E27FC236}">
                <a16:creationId xmlns:a16="http://schemas.microsoft.com/office/drawing/2014/main" id="{F77E76EA-FBFC-F6A5-FF53-AE48CDB36D45}"/>
              </a:ext>
            </a:extLst>
          </p:cNvPr>
          <p:cNvSpPr txBox="1"/>
          <p:nvPr/>
        </p:nvSpPr>
        <p:spPr>
          <a:xfrm>
            <a:off x="711109" y="1435604"/>
            <a:ext cx="5390605"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Show Flag restaurants by rating (good, average, poor)?</a:t>
            </a:r>
          </a:p>
        </p:txBody>
      </p:sp>
      <p:sp>
        <p:nvSpPr>
          <p:cNvPr id="7" name="TextBox 6">
            <a:extLst>
              <a:ext uri="{FF2B5EF4-FFF2-40B4-BE49-F238E27FC236}">
                <a16:creationId xmlns:a16="http://schemas.microsoft.com/office/drawing/2014/main" id="{D7312ACE-D615-42CE-2026-DFF08DF73ED6}"/>
              </a:ext>
            </a:extLst>
          </p:cNvPr>
          <p:cNvSpPr txBox="1"/>
          <p:nvPr/>
        </p:nvSpPr>
        <p:spPr>
          <a:xfrm>
            <a:off x="6619738" y="1377406"/>
            <a:ext cx="4239851"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Q. Display classify reviews by rating?</a:t>
            </a:r>
          </a:p>
        </p:txBody>
      </p:sp>
      <p:sp>
        <p:nvSpPr>
          <p:cNvPr id="9" name="TextBox 8">
            <a:extLst>
              <a:ext uri="{FF2B5EF4-FFF2-40B4-BE49-F238E27FC236}">
                <a16:creationId xmlns:a16="http://schemas.microsoft.com/office/drawing/2014/main" id="{743FE941-74C3-70E5-718D-F51AF3FB2788}"/>
              </a:ext>
            </a:extLst>
          </p:cNvPr>
          <p:cNvSpPr txBox="1"/>
          <p:nvPr/>
        </p:nvSpPr>
        <p:spPr>
          <a:xfrm>
            <a:off x="358411" y="2081935"/>
            <a:ext cx="6096000" cy="1200329"/>
          </a:xfrm>
          <a:prstGeom prst="rect">
            <a:avLst/>
          </a:prstGeom>
          <a:noFill/>
        </p:spPr>
        <p:txBody>
          <a:bodyPr wrap="square">
            <a:spAutoFit/>
          </a:bodyPr>
          <a:lstStyle/>
          <a:p>
            <a:r>
              <a:rPr lang="en-IN" dirty="0">
                <a:solidFill>
                  <a:srgbClr val="0070C0"/>
                </a:solidFill>
              </a:rPr>
              <a:t>SELECT RestaurantID, Name, AverageRating, CASE WHEN AverageRating &gt;= 4 THEN 'Good' WHEN AverageRating BETWEEN 3 AND 3.99 THEN 'Average’ ELSE 'Poor' END AS RatingCategory FROM Restaurants;</a:t>
            </a:r>
          </a:p>
        </p:txBody>
      </p:sp>
      <p:sp>
        <p:nvSpPr>
          <p:cNvPr id="11" name="TextBox 10">
            <a:extLst>
              <a:ext uri="{FF2B5EF4-FFF2-40B4-BE49-F238E27FC236}">
                <a16:creationId xmlns:a16="http://schemas.microsoft.com/office/drawing/2014/main" id="{2925709F-3962-8399-C940-AD3E476A2754}"/>
              </a:ext>
            </a:extLst>
          </p:cNvPr>
          <p:cNvSpPr txBox="1"/>
          <p:nvPr/>
        </p:nvSpPr>
        <p:spPr>
          <a:xfrm>
            <a:off x="6548846" y="1825897"/>
            <a:ext cx="5390605" cy="1200329"/>
          </a:xfrm>
          <a:prstGeom prst="rect">
            <a:avLst/>
          </a:prstGeom>
          <a:noFill/>
        </p:spPr>
        <p:txBody>
          <a:bodyPr wrap="square">
            <a:spAutoFit/>
          </a:bodyPr>
          <a:lstStyle/>
          <a:p>
            <a:r>
              <a:rPr lang="en-IN" dirty="0">
                <a:solidFill>
                  <a:srgbClr val="0070C0"/>
                </a:solidFill>
              </a:rPr>
              <a:t>SELECT Reviewed, CustomerID, RestaurantID, Rating, CASE WHEN Rating &gt;= 4 THEN 'Positive' WHEN Rating = 3 THEN 'Neutral' ELSE 'Negative' END AS ReviewType FROM Reviews;</a:t>
            </a:r>
          </a:p>
        </p:txBody>
      </p:sp>
      <p:pic>
        <p:nvPicPr>
          <p:cNvPr id="12" name="Picture 11">
            <a:extLst>
              <a:ext uri="{FF2B5EF4-FFF2-40B4-BE49-F238E27FC236}">
                <a16:creationId xmlns:a16="http://schemas.microsoft.com/office/drawing/2014/main" id="{52FB5D10-FCE1-D58B-37A4-DF06F1D05493}"/>
              </a:ext>
            </a:extLst>
          </p:cNvPr>
          <p:cNvPicPr>
            <a:picLocks noChangeAspect="1"/>
          </p:cNvPicPr>
          <p:nvPr/>
        </p:nvPicPr>
        <p:blipFill>
          <a:blip r:embed="rId2"/>
          <a:stretch>
            <a:fillRect/>
          </a:stretch>
        </p:blipFill>
        <p:spPr>
          <a:xfrm>
            <a:off x="711109" y="3309216"/>
            <a:ext cx="4743450" cy="2933700"/>
          </a:xfrm>
          <a:prstGeom prst="rect">
            <a:avLst/>
          </a:prstGeom>
        </p:spPr>
      </p:pic>
      <p:pic>
        <p:nvPicPr>
          <p:cNvPr id="13" name="Picture 12">
            <a:extLst>
              <a:ext uri="{FF2B5EF4-FFF2-40B4-BE49-F238E27FC236}">
                <a16:creationId xmlns:a16="http://schemas.microsoft.com/office/drawing/2014/main" id="{61F6409E-943E-64BC-58A4-B9AA0F09A546}"/>
              </a:ext>
            </a:extLst>
          </p:cNvPr>
          <p:cNvPicPr>
            <a:picLocks noChangeAspect="1"/>
          </p:cNvPicPr>
          <p:nvPr/>
        </p:nvPicPr>
        <p:blipFill>
          <a:blip r:embed="rId3"/>
          <a:stretch>
            <a:fillRect/>
          </a:stretch>
        </p:blipFill>
        <p:spPr>
          <a:xfrm>
            <a:off x="6619738" y="3105385"/>
            <a:ext cx="4543425" cy="3038475"/>
          </a:xfrm>
          <a:prstGeom prst="rect">
            <a:avLst/>
          </a:prstGeom>
        </p:spPr>
      </p:pic>
    </p:spTree>
    <p:extLst>
      <p:ext uri="{BB962C8B-B14F-4D97-AF65-F5344CB8AC3E}">
        <p14:creationId xmlns:p14="http://schemas.microsoft.com/office/powerpoint/2010/main" val="2748877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7D57F1B-4BF3-851A-63C9-D65E0A02A1D9}"/>
              </a:ext>
            </a:extLst>
          </p:cNvPr>
          <p:cNvSpPr>
            <a:spLocks noGrp="1"/>
          </p:cNvSpPr>
          <p:nvPr>
            <p:ph type="title"/>
          </p:nvPr>
        </p:nvSpPr>
        <p:spPr>
          <a:xfrm>
            <a:off x="1096963" y="287338"/>
            <a:ext cx="10058400" cy="853485"/>
          </a:xfrm>
          <a:solidFill>
            <a:srgbClr val="FF0000"/>
          </a:solidFill>
        </p:spPr>
        <p:txBody>
          <a:bodyPr>
            <a:normAutofit/>
          </a:bodyPr>
          <a:lstStyle/>
          <a:p>
            <a:pPr algn="ctr"/>
            <a:r>
              <a:rPr lang="en-IN" dirty="0">
                <a:solidFill>
                  <a:schemeClr val="bg1"/>
                </a:solidFill>
                <a:latin typeface="Times New Roman" panose="02020603050405020304" pitchFamily="18" charset="0"/>
                <a:cs typeface="Times New Roman" panose="02020603050405020304" pitchFamily="18" charset="0"/>
              </a:rPr>
              <a:t>SUMMARY &amp; CONCLUSION</a:t>
            </a:r>
          </a:p>
        </p:txBody>
      </p:sp>
      <p:sp>
        <p:nvSpPr>
          <p:cNvPr id="5" name="TextBox 4">
            <a:extLst>
              <a:ext uri="{FF2B5EF4-FFF2-40B4-BE49-F238E27FC236}">
                <a16:creationId xmlns:a16="http://schemas.microsoft.com/office/drawing/2014/main" id="{B77EF48F-E90D-3F32-3E67-D1C5E314ECD0}"/>
              </a:ext>
            </a:extLst>
          </p:cNvPr>
          <p:cNvSpPr txBox="1"/>
          <p:nvPr/>
        </p:nvSpPr>
        <p:spPr>
          <a:xfrm>
            <a:off x="1096963" y="2243018"/>
            <a:ext cx="10546397"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This SQL project using the Zomato dataset created a restaurant management system with tables for Restaurants, Customers, Orders, Reviews, and Payments. Various SQL queries such as filtering, joins, aggregations, subqueries, and window functions were applied to analyse customer behaviour, restaurant performance, payments, and reviews. The project shows how SQL can turn raw data into valuable insights, helping in better decision-making, improving customer experience, and supporting business growth.</a:t>
            </a:r>
          </a:p>
        </p:txBody>
      </p:sp>
    </p:spTree>
    <p:extLst>
      <p:ext uri="{BB962C8B-B14F-4D97-AF65-F5344CB8AC3E}">
        <p14:creationId xmlns:p14="http://schemas.microsoft.com/office/powerpoint/2010/main" val="2322882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F62A7A-DCE7-A5CF-ABC9-C8B6F3EB32FB}"/>
              </a:ext>
            </a:extLst>
          </p:cNvPr>
          <p:cNvSpPr txBox="1"/>
          <p:nvPr/>
        </p:nvSpPr>
        <p:spPr>
          <a:xfrm>
            <a:off x="2473233" y="2208873"/>
            <a:ext cx="7559040" cy="1446550"/>
          </a:xfrm>
          <a:prstGeom prst="rect">
            <a:avLst/>
          </a:prstGeom>
          <a:noFill/>
        </p:spPr>
        <p:txBody>
          <a:bodyPr wrap="square" rtlCol="0">
            <a:spAutoFit/>
          </a:bodyPr>
          <a:lstStyle/>
          <a:p>
            <a:pPr algn="ctr"/>
            <a:r>
              <a:rPr lang="en-IN" sz="8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89150988"/>
      </p:ext>
    </p:extLst>
  </p:cSld>
  <p:clrMapOvr>
    <a:masterClrMapping/>
  </p:clrMapOvr>
</p:sld>
</file>

<file path=ppt/theme/theme1.xml><?xml version="1.0" encoding="utf-8"?>
<a:theme xmlns:a="http://schemas.openxmlformats.org/drawingml/2006/main" name="Retrospect">
  <a:themeElements>
    <a:clrScheme name="Zomato red">
      <a:dk1>
        <a:srgbClr val="000000"/>
      </a:dk1>
      <a:lt1>
        <a:sysClr val="window" lastClr="FFFFFF"/>
      </a:lt1>
      <a:dk2>
        <a:srgbClr val="637052"/>
      </a:dk2>
      <a:lt2>
        <a:srgbClr val="CCDDEA"/>
      </a:lt2>
      <a:accent1>
        <a:srgbClr val="FF0000"/>
      </a:accent1>
      <a:accent2>
        <a:srgbClr val="D02B1A"/>
      </a:accent2>
      <a:accent3>
        <a:srgbClr val="D02B1A"/>
      </a:accent3>
      <a:accent4>
        <a:srgbClr val="C00000"/>
      </a:accent4>
      <a:accent5>
        <a:srgbClr val="FF0000"/>
      </a:accent5>
      <a:accent6>
        <a:srgbClr val="C00000"/>
      </a:accent6>
      <a:hlink>
        <a:srgbClr val="FF0000"/>
      </a:hlink>
      <a:folHlink>
        <a:srgbClr val="FF000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1111</TotalTime>
  <Words>1570</Words>
  <Application>Microsoft Office PowerPoint</Application>
  <PresentationFormat>Widescreen</PresentationFormat>
  <Paragraphs>124</Paragraphs>
  <Slides>32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Calibri</vt:lpstr>
      <vt:lpstr>Calibri Light</vt:lpstr>
      <vt:lpstr>Times New Roman</vt:lpstr>
      <vt:lpstr>Retrospect</vt:lpstr>
      <vt:lpstr>PowerPoint Presentation</vt:lpstr>
      <vt:lpstr>PowerPoint Presentation</vt:lpstr>
      <vt:lpstr>PowerPoint Presentation</vt:lpstr>
      <vt:lpstr>STRUCTURE OF TABLE</vt:lpstr>
      <vt:lpstr>STRUCTURE OF TABLE</vt:lpstr>
      <vt:lpstr>STRUCTURE OF TABLE</vt:lpstr>
      <vt:lpstr>STRUCTURE OF TABLE</vt:lpstr>
      <vt:lpstr>STRUCTURE OF TABLE</vt:lpstr>
      <vt:lpstr>CONTENT OF TABLE</vt:lpstr>
      <vt:lpstr>CONTENT OF TABLE</vt:lpstr>
      <vt:lpstr>CONTENT OF TABLE</vt:lpstr>
      <vt:lpstr>CONTENT OF TABLE</vt:lpstr>
      <vt:lpstr>CONTENT OF TABLE</vt:lpstr>
      <vt:lpstr>BASIC QUERIES</vt:lpstr>
      <vt:lpstr>BASIC QUERIES</vt:lpstr>
      <vt:lpstr>FILTERING </vt:lpstr>
      <vt:lpstr>FILTERING </vt:lpstr>
      <vt:lpstr>FILTERING </vt:lpstr>
      <vt:lpstr>JOINS </vt:lpstr>
      <vt:lpstr>JOINS </vt:lpstr>
      <vt:lpstr>AGGREGATIONS</vt:lpstr>
      <vt:lpstr>AGGREGATIONS</vt:lpstr>
      <vt:lpstr> ADVANCE FUNCTIONS</vt:lpstr>
      <vt:lpstr>ADVANCE FUNCTIONS</vt:lpstr>
      <vt:lpstr> ADVANCE FUNCTIONS</vt:lpstr>
      <vt:lpstr> ADVANCE FUNCTIONS</vt:lpstr>
      <vt:lpstr> WINDOWS FUNCTIONS</vt:lpstr>
      <vt:lpstr>WINDOWS FUNCTIONS</vt:lpstr>
      <vt:lpstr> SUBQUERIES</vt:lpstr>
      <vt:lpstr> CONDITIONAL  LOGIC</vt:lpstr>
      <vt:lpstr>SUMMARY &amp;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Dattaram Songhare</dc:creator>
  <cp:lastModifiedBy>Dattaram Songhare</cp:lastModifiedBy>
  <cp:revision>47</cp:revision>
  <dcterms:created xsi:type="dcterms:W3CDTF">2025-09-14T07:05:36Z</dcterms:created>
  <dcterms:modified xsi:type="dcterms:W3CDTF">2025-09-18T14:21:04Z</dcterms:modified>
</cp:coreProperties>
</file>